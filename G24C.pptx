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9942500" cy="6761150"/>
  <p:embeddedFontLst>
    <p:embeddedFont>
      <p:font typeface="Tahoma"/>
      <p:regular r:id="rId26"/>
      <p:bold r:id="rId27"/>
    </p:embeddedFont>
    <p:embeddedFont>
      <p:font typeface="Helvetica Neue"/>
      <p:regular r:id="rId28"/>
      <p:bold r:id="rId29"/>
      <p:italic r:id="rId30"/>
      <p:boldItalic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521">
          <p15:clr>
            <a:srgbClr val="A4A3A4"/>
          </p15:clr>
        </p15:guide>
      </p15:sldGuideLst>
    </p:ext>
    <p:ext uri="{2D200454-40CA-4A62-9FC3-DE9A4176ACB9}">
      <p15:notesGuideLst>
        <p15:guide id="1" orient="horz" pos="2130">
          <p15:clr>
            <a:srgbClr val="A4A3A4"/>
          </p15:clr>
        </p15:guide>
        <p15:guide id="2" pos="3133">
          <p15:clr>
            <a:srgbClr val="A4A3A4"/>
          </p15:clr>
        </p15:guide>
      </p15:notesGuideLst>
    </p:ext>
    <p:ext uri="GoogleSlidesCustomDataVersion2">
      <go:slidesCustomData xmlns:go="http://customooxmlschemas.google.com/" r:id="rId36" roundtripDataSignature="AMtx7mgc1sjGr/IDqyteYwvd5CqnJRXz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48C8EA-4310-4F69-B452-EDC874184903}">
  <a:tblStyle styleId="{6A48C8EA-4310-4F69-B452-EDC874184903}" styleName="Table_0">
    <a:wholeTbl>
      <a:tcTxStyle b="off" i="off">
        <a:font>
          <a:latin typeface="Helvetica"/>
          <a:ea typeface="Helvetica"/>
          <a:cs typeface="Helvetic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Helvetica"/>
          <a:ea typeface="Helvetica"/>
          <a:cs typeface="Helvetica"/>
        </a:font>
        <a:schemeClr val="lt1"/>
      </a:tcTxStyle>
      <a:tcStyle>
        <a:fill>
          <a:solidFill>
            <a:schemeClr val="accent4"/>
          </a:solidFill>
        </a:fill>
      </a:tcStyle>
    </a:lastCol>
    <a:firstCol>
      <a:tcTxStyle b="on" i="off">
        <a:font>
          <a:latin typeface="Helvetica"/>
          <a:ea typeface="Helvetica"/>
          <a:cs typeface="Helvetica"/>
        </a:font>
        <a:schemeClr val="lt1"/>
      </a:tcTxStyle>
      <a:tcStyle>
        <a:fill>
          <a:solidFill>
            <a:schemeClr val="accent4"/>
          </a:solidFill>
        </a:fill>
      </a:tcStyle>
    </a:firstCol>
    <a:lastRow>
      <a:tcTxStyle b="on" i="off">
        <a:font>
          <a:latin typeface="Helvetica"/>
          <a:ea typeface="Helvetica"/>
          <a:cs typeface="Helvetica"/>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a:seCell>
    <a:swCell>
      <a:tcTxStyle/>
    </a:swCell>
    <a:firstRow>
      <a:tcTxStyle b="on" i="off">
        <a:font>
          <a:latin typeface="Helvetica"/>
          <a:ea typeface="Helvetica"/>
          <a:cs typeface="Helvetica"/>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521"/>
      </p:guideLst>
    </p:cSldViewPr>
  </p:slideViewPr>
  <p:notesViewPr>
    <p:cSldViewPr snapToGrid="0">
      <p:cViewPr varScale="1">
        <p:scale>
          <a:sx n="100" d="100"/>
          <a:sy n="100" d="100"/>
        </p:scale>
        <p:origin x="0" y="0"/>
      </p:cViewPr>
      <p:guideLst>
        <p:guide pos="2130" orient="horz"/>
        <p:guide pos="3133"/>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Tahoma-regular.fntdata"/><Relationship Id="rId25" Type="http://schemas.openxmlformats.org/officeDocument/2006/relationships/slide" Target="slides/slide19.xml"/><Relationship Id="rId28" Type="http://schemas.openxmlformats.org/officeDocument/2006/relationships/font" Target="fonts/HelveticaNeue-regular.fntdata"/><Relationship Id="rId27" Type="http://schemas.openxmlformats.org/officeDocument/2006/relationships/font" Target="fonts/Tahoma-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elveticaNeue-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5.xml"/><Relationship Id="rId33" Type="http://schemas.openxmlformats.org/officeDocument/2006/relationships/font" Target="fonts/RobotoMono-bold.fntdata"/><Relationship Id="rId10" Type="http://schemas.openxmlformats.org/officeDocument/2006/relationships/slide" Target="slides/slide4.xml"/><Relationship Id="rId32" Type="http://schemas.openxmlformats.org/officeDocument/2006/relationships/font" Target="fonts/RobotoMono-regular.fntdata"/><Relationship Id="rId13" Type="http://schemas.openxmlformats.org/officeDocument/2006/relationships/slide" Target="slides/slide7.xml"/><Relationship Id="rId35" Type="http://schemas.openxmlformats.org/officeDocument/2006/relationships/font" Target="fonts/RobotoMono-boldItalic.fntdata"/><Relationship Id="rId12" Type="http://schemas.openxmlformats.org/officeDocument/2006/relationships/slide" Target="slides/slide6.xml"/><Relationship Id="rId34" Type="http://schemas.openxmlformats.org/officeDocument/2006/relationships/font" Target="fonts/RobotoMono-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332288" cy="3333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5635625" y="0"/>
            <a:ext cx="4333875" cy="33337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lvl1pPr indent="-228600" lvl="0" marL="457200" marR="0" rtl="0" algn="l">
              <a:spcBef>
                <a:spcPts val="300"/>
              </a:spcBef>
              <a:spcAft>
                <a:spcPts val="0"/>
              </a:spcAft>
              <a:buSzPts val="1400"/>
              <a:buNone/>
              <a:defRPr b="0" i="0" sz="1000" u="none" cap="none" strike="noStrike">
                <a:solidFill>
                  <a:srgbClr val="E36C0A"/>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438900"/>
            <a:ext cx="4332288" cy="3333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5635625" y="6438900"/>
            <a:ext cx="4333875" cy="3333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1:notes"/>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 name="Google Shape;37;p2:notes"/>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2:notes"/>
          <p:cNvSpPr txBox="1"/>
          <p:nvPr>
            <p:ph idx="12" type="sldNum"/>
          </p:nvPr>
        </p:nvSpPr>
        <p:spPr>
          <a:xfrm>
            <a:off x="5635625" y="6438900"/>
            <a:ext cx="4333875" cy="3333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44" name="Google Shape;44;p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50" name="Google Shape;50;p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56" name="Google Shape;56;p5: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6: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62" name="Google Shape;62;p6: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7: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68" name="Google Shape;68;p7: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9: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76" name="Google Shape;76;p9: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1718daa45_0_25: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88" name="Google Shape;88;g341718daa45_0_25: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0: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96" name="Google Shape;96;p10: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1: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04" name="Google Shape;104;p1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2: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17" name="Google Shape;117;p12: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30" name="Google Shape;130;p1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7: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36" name="Google Shape;136;p17: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38af4a3941_0_32: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42" name="Google Shape;142;g338af4a3941_0_32: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8: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48" name="Google Shape;148;p18: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9: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55" name="Google Shape;155;p19: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0: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62" name="Google Shape;162;p20: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68" name="Google Shape;168;p2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7" name="Shape 17"/>
        <p:cNvGrpSpPr/>
        <p:nvPr/>
      </p:nvGrpSpPr>
      <p:grpSpPr>
        <a:xfrm>
          <a:off x="0" y="0"/>
          <a:ext cx="0" cy="0"/>
          <a:chOff x="0" y="0"/>
          <a:chExt cx="0" cy="0"/>
        </a:xfrm>
      </p:grpSpPr>
      <p:sp>
        <p:nvSpPr>
          <p:cNvPr id="18" name="Google Shape;18;p25"/>
          <p:cNvSpPr txBox="1"/>
          <p:nvPr>
            <p:ph type="ctrTitle"/>
          </p:nvPr>
        </p:nvSpPr>
        <p:spPr>
          <a:xfrm>
            <a:off x="755373" y="685800"/>
            <a:ext cx="7901609" cy="1615966"/>
          </a:xfrm>
          <a:prstGeom prst="rect">
            <a:avLst/>
          </a:prstGeom>
          <a:solidFill>
            <a:srgbClr val="D2691E"/>
          </a:solidFill>
          <a:ln cap="flat" cmpd="sng" w="9525">
            <a:solidFill>
              <a:srgbClr val="D2691E"/>
            </a:solidFill>
            <a:prstDash val="solid"/>
            <a:round/>
            <a:headEnd len="sm" w="sm" type="none"/>
            <a:tailEnd len="sm" w="sm" type="none"/>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26"/>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26"/>
          <p:cNvSpPr txBox="1"/>
          <p:nvPr>
            <p:ph idx="1" type="body"/>
          </p:nvPr>
        </p:nvSpPr>
        <p:spPr>
          <a:xfrm>
            <a:off x="86197" y="782321"/>
            <a:ext cx="8953500" cy="5976288"/>
          </a:xfrm>
          <a:prstGeom prst="rect">
            <a:avLst/>
          </a:prstGeom>
          <a:noFill/>
          <a:ln>
            <a:noFill/>
          </a:ln>
        </p:spPr>
        <p:txBody>
          <a:bodyPr anchorCtr="0" anchor="t" bIns="45700" lIns="91425" spcFirstLastPara="1" rIns="91425" wrap="square" tIns="45700">
            <a:noAutofit/>
          </a:bodyPr>
          <a:lstStyle>
            <a:lvl1pPr indent="-371475" lvl="0" marL="457200" algn="just">
              <a:lnSpc>
                <a:spcPct val="150000"/>
              </a:lnSpc>
              <a:spcBef>
                <a:spcPts val="630"/>
              </a:spcBef>
              <a:spcAft>
                <a:spcPts val="0"/>
              </a:spcAft>
              <a:buSzPts val="2250"/>
              <a:buChar char="•"/>
              <a:defRPr sz="1800">
                <a:latin typeface="Helvetica Neue"/>
                <a:ea typeface="Helvetica Neue"/>
                <a:cs typeface="Helvetica Neue"/>
                <a:sym typeface="Helvetica Neue"/>
              </a:defRPr>
            </a:lvl1pPr>
            <a:lvl2pPr indent="-330200" lvl="1" marL="914400" algn="just">
              <a:lnSpc>
                <a:spcPct val="150000"/>
              </a:lnSpc>
              <a:spcBef>
                <a:spcPts val="560"/>
              </a:spcBef>
              <a:spcAft>
                <a:spcPts val="0"/>
              </a:spcAft>
              <a:buSzPts val="1600"/>
              <a:buChar char="o"/>
              <a:defRPr sz="1600">
                <a:latin typeface="Helvetica Neue"/>
                <a:ea typeface="Helvetica Neue"/>
                <a:cs typeface="Helvetica Neue"/>
                <a:sym typeface="Helvetica Neue"/>
              </a:defRPr>
            </a:lvl2pPr>
            <a:lvl3pPr indent="-304800" lvl="2" marL="1371600" algn="just">
              <a:lnSpc>
                <a:spcPct val="150000"/>
              </a:lnSpc>
              <a:spcBef>
                <a:spcPts val="560"/>
              </a:spcBef>
              <a:spcAft>
                <a:spcPts val="0"/>
              </a:spcAft>
              <a:buSzPts val="1200"/>
              <a:buChar char="4"/>
              <a:defRPr sz="1600">
                <a:latin typeface="Helvetica Neue"/>
                <a:ea typeface="Helvetica Neue"/>
                <a:cs typeface="Helvetica Neue"/>
                <a:sym typeface="Helvetica Neue"/>
              </a:defRPr>
            </a:lvl3pPr>
            <a:lvl4pPr indent="-304800" lvl="3" marL="1828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4pPr>
            <a:lvl5pPr indent="-304800" lvl="4" marL="22860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cxnSp>
        <p:nvCxnSpPr>
          <p:cNvPr id="22" name="Google Shape;22;p26"/>
          <p:cNvCxnSpPr/>
          <p:nvPr/>
        </p:nvCxnSpPr>
        <p:spPr>
          <a:xfrm>
            <a:off x="579120" y="6658235"/>
            <a:ext cx="7934960" cy="0"/>
          </a:xfrm>
          <a:prstGeom prst="straightConnector1">
            <a:avLst/>
          </a:prstGeom>
          <a:solidFill>
            <a:schemeClr val="accent1"/>
          </a:solidFill>
          <a:ln cap="flat" cmpd="sng" w="9525">
            <a:solidFill>
              <a:srgbClr val="005493"/>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30480" y="27846"/>
            <a:ext cx="8328751"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marR="0" rtl="0" algn="l">
              <a:spcBef>
                <a:spcPts val="0"/>
              </a:spcBef>
              <a:spcAft>
                <a:spcPts val="0"/>
              </a:spcAft>
              <a:buSzPts val="1400"/>
              <a:buNone/>
              <a:defRPr b="1" i="0" sz="2400" u="none" cap="none" strike="noStrike">
                <a:solidFill>
                  <a:schemeClr val="lt1"/>
                </a:solidFill>
                <a:latin typeface="Helvetica Neue"/>
                <a:ea typeface="Helvetica Neue"/>
                <a:cs typeface="Helvetica Neue"/>
                <a:sym typeface="Helvetica Neue"/>
              </a:defRPr>
            </a:lvl1pPr>
            <a:lvl2pPr lvl="1"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2pPr>
            <a:lvl3pPr lvl="2"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3pPr>
            <a:lvl4pPr lvl="3"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4pPr>
            <a:lvl5pPr lvl="4"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1" name="Google Shape;11;p24"/>
          <p:cNvSpPr txBox="1"/>
          <p:nvPr>
            <p:ph idx="1" type="body"/>
          </p:nvPr>
        </p:nvSpPr>
        <p:spPr>
          <a:xfrm>
            <a:off x="86197" y="782321"/>
            <a:ext cx="8953500" cy="5831590"/>
          </a:xfrm>
          <a:prstGeom prst="rect">
            <a:avLst/>
          </a:prstGeom>
          <a:noFill/>
          <a:ln>
            <a:noFill/>
          </a:ln>
        </p:spPr>
        <p:txBody>
          <a:bodyPr anchorCtr="0" anchor="t" bIns="45700" lIns="91425" spcFirstLastPara="1" rIns="91425" wrap="square" tIns="45700">
            <a:noAutofit/>
          </a:bodyPr>
          <a:lstStyle>
            <a:lvl1pPr indent="-371475" lvl="0" marL="457200" marR="0" rtl="0" algn="just">
              <a:lnSpc>
                <a:spcPct val="150000"/>
              </a:lnSpc>
              <a:spcBef>
                <a:spcPts val="630"/>
              </a:spcBef>
              <a:spcAft>
                <a:spcPts val="0"/>
              </a:spcAft>
              <a:buClr>
                <a:schemeClr val="dk1"/>
              </a:buClr>
              <a:buSzPts val="225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rtl="0" algn="just">
              <a:lnSpc>
                <a:spcPct val="150000"/>
              </a:lnSpc>
              <a:spcBef>
                <a:spcPts val="560"/>
              </a:spcBef>
              <a:spcAft>
                <a:spcPts val="0"/>
              </a:spcAft>
              <a:buClr>
                <a:schemeClr val="dk1"/>
              </a:buClr>
              <a:buSzPts val="1600"/>
              <a:buFont typeface="Courier New"/>
              <a:buChar char="o"/>
              <a:defRPr b="0" i="0" sz="1600" u="none" cap="none" strike="noStrike">
                <a:solidFill>
                  <a:schemeClr val="dk1"/>
                </a:solidFill>
                <a:latin typeface="Helvetica Neue"/>
                <a:ea typeface="Helvetica Neue"/>
                <a:cs typeface="Helvetica Neue"/>
                <a:sym typeface="Helvetica Neue"/>
              </a:defRPr>
            </a:lvl2pPr>
            <a:lvl3pPr indent="-304800" lvl="2" marL="1371600" marR="0" rtl="0" algn="just">
              <a:lnSpc>
                <a:spcPct val="150000"/>
              </a:lnSpc>
              <a:spcBef>
                <a:spcPts val="560"/>
              </a:spcBef>
              <a:spcAft>
                <a:spcPts val="0"/>
              </a:spcAft>
              <a:buClr>
                <a:srgbClr val="009900"/>
              </a:buClr>
              <a:buSzPts val="1200"/>
              <a:buFont typeface="Arimo"/>
              <a:buChar char="4"/>
              <a:defRPr b="0" i="0" sz="1600" u="none" cap="none" strike="noStrike">
                <a:solidFill>
                  <a:schemeClr val="dk1"/>
                </a:solidFill>
                <a:latin typeface="Helvetica Neue"/>
                <a:ea typeface="Helvetica Neue"/>
                <a:cs typeface="Helvetica Neue"/>
                <a:sym typeface="Helvetica Neue"/>
              </a:defRPr>
            </a:lvl3pPr>
            <a:lvl4pPr indent="-304800" lvl="3" marL="1828800" marR="0" rtl="0" algn="just">
              <a:lnSpc>
                <a:spcPct val="150000"/>
              </a:lnSpc>
              <a:spcBef>
                <a:spcPts val="560"/>
              </a:spcBef>
              <a:spcAft>
                <a:spcPts val="0"/>
              </a:spcAft>
              <a:buClr>
                <a:schemeClr val="hlink"/>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4pPr>
            <a:lvl5pPr indent="-304800" lvl="4" marL="2286000" marR="0" rtl="0" algn="just">
              <a:lnSpc>
                <a:spcPct val="150000"/>
              </a:lnSpc>
              <a:spcBef>
                <a:spcPts val="560"/>
              </a:spcBef>
              <a:spcAft>
                <a:spcPts val="0"/>
              </a:spcAft>
              <a:buClr>
                <a:srgbClr val="FF0066"/>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2" name="Google Shape;12;p24"/>
          <p:cNvSpPr txBox="1"/>
          <p:nvPr/>
        </p:nvSpPr>
        <p:spPr>
          <a:xfrm>
            <a:off x="4259263" y="6126163"/>
            <a:ext cx="1928812" cy="2460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1000" u="none" cap="none" strike="noStrike">
                <a:solidFill>
                  <a:schemeClr val="lt1"/>
                </a:solidFill>
                <a:latin typeface="Helvetica Neue"/>
                <a:ea typeface="Helvetica Neue"/>
                <a:cs typeface="Helvetica Neue"/>
                <a:sym typeface="Helvetica Neue"/>
              </a:rPr>
              <a:t>Wednesday, March 12, 2025</a:t>
            </a:r>
            <a:endParaRPr b="1" i="0" sz="1000" u="none" cap="none" strike="noStrike">
              <a:solidFill>
                <a:schemeClr val="lt1"/>
              </a:solidFill>
              <a:latin typeface="Helvetica Neue"/>
              <a:ea typeface="Helvetica Neue"/>
              <a:cs typeface="Helvetica Neue"/>
              <a:sym typeface="Helvetica Neue"/>
            </a:endParaRPr>
          </a:p>
        </p:txBody>
      </p:sp>
      <p:pic>
        <p:nvPicPr>
          <p:cNvPr descr="JUIT Office Photos | Glassdoor" id="13" name="Google Shape;13;p24"/>
          <p:cNvPicPr preferRelativeResize="0"/>
          <p:nvPr/>
        </p:nvPicPr>
        <p:blipFill rotWithShape="1">
          <a:blip r:embed="rId1">
            <a:alphaModFix/>
          </a:blip>
          <a:srcRect b="0" l="0" r="0" t="0"/>
          <a:stretch/>
        </p:blipFill>
        <p:spPr>
          <a:xfrm>
            <a:off x="8349072" y="42901"/>
            <a:ext cx="815248" cy="679009"/>
          </a:xfrm>
          <a:prstGeom prst="rect">
            <a:avLst/>
          </a:prstGeom>
          <a:noFill/>
          <a:ln>
            <a:noFill/>
          </a:ln>
        </p:spPr>
      </p:pic>
      <p:sp>
        <p:nvSpPr>
          <p:cNvPr id="14" name="Google Shape;14;p24"/>
          <p:cNvSpPr txBox="1"/>
          <p:nvPr/>
        </p:nvSpPr>
        <p:spPr>
          <a:xfrm>
            <a:off x="123673" y="6687228"/>
            <a:ext cx="8694256" cy="195391"/>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0" i="0" lang="en-IN" sz="950" u="none" cap="none" strike="noStrike">
                <a:solidFill>
                  <a:srgbClr val="002060"/>
                </a:solidFill>
                <a:latin typeface="Palatino"/>
                <a:ea typeface="Palatino"/>
                <a:cs typeface="Palatino"/>
                <a:sym typeface="Palatino"/>
              </a:rPr>
              <a:t>       </a:t>
            </a:r>
            <a:r>
              <a:rPr b="0" i="0" lang="en-IN" sz="900" u="none" cap="none" strike="noStrike">
                <a:solidFill>
                  <a:srgbClr val="002060"/>
                </a:solidFill>
                <a:latin typeface="Palatino"/>
                <a:ea typeface="Palatino"/>
                <a:cs typeface="Palatino"/>
                <a:sym typeface="Palatino"/>
              </a:rPr>
              <a:t>Major Project – II (18B19CI891) Mid-Term Evaluation | Department of CSE &amp; IT | AY 2024-25. </a:t>
            </a:r>
            <a:endParaRPr/>
          </a:p>
        </p:txBody>
      </p:sp>
      <p:sp>
        <p:nvSpPr>
          <p:cNvPr id="15" name="Google Shape;15;p24"/>
          <p:cNvSpPr txBox="1"/>
          <p:nvPr/>
        </p:nvSpPr>
        <p:spPr>
          <a:xfrm>
            <a:off x="8798560" y="6613912"/>
            <a:ext cx="259243" cy="246062"/>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950" u="none" cap="none" strike="noStrike">
              <a:solidFill>
                <a:srgbClr val="002060"/>
              </a:solidFill>
              <a:latin typeface="Palatino"/>
              <a:ea typeface="Palatino"/>
              <a:cs typeface="Palatino"/>
              <a:sym typeface="Palatino"/>
            </a:endParaRPr>
          </a:p>
        </p:txBody>
      </p:sp>
      <p:sp>
        <p:nvSpPr>
          <p:cNvPr id="16" name="Google Shape;16;p24"/>
          <p:cNvSpPr txBox="1"/>
          <p:nvPr/>
        </p:nvSpPr>
        <p:spPr>
          <a:xfrm>
            <a:off x="8798560" y="6644391"/>
            <a:ext cx="3657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IN" sz="900" u="none" cap="none" strike="noStrike">
                <a:solidFill>
                  <a:srgbClr val="005493"/>
                </a:solidFill>
                <a:latin typeface="Palatino"/>
                <a:ea typeface="Palatino"/>
                <a:cs typeface="Palatino"/>
                <a:sym typeface="Palatino"/>
              </a:rPr>
              <a:t>‹#›</a:t>
            </a:fld>
            <a:r>
              <a:rPr b="0" i="0" lang="en-IN" sz="900" u="none" cap="none" strike="noStrike">
                <a:solidFill>
                  <a:srgbClr val="005493"/>
                </a:solidFill>
                <a:latin typeface="Palatino"/>
                <a:ea typeface="Palatino"/>
                <a:cs typeface="Palatino"/>
                <a:sym typeface="Palatino"/>
              </a:rPr>
              <a:t>.</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txBox="1"/>
          <p:nvPr>
            <p:ph type="ctrTitle"/>
          </p:nvPr>
        </p:nvSpPr>
        <p:spPr>
          <a:xfrm>
            <a:off x="0" y="3250825"/>
            <a:ext cx="9144000" cy="1087500"/>
          </a:xfrm>
          <a:prstGeom prst="rect">
            <a:avLst/>
          </a:prstGeom>
          <a:solidFill>
            <a:srgbClr val="0037A4"/>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15000"/>
              </a:lnSpc>
              <a:spcBef>
                <a:spcPts val="0"/>
              </a:spcBef>
              <a:spcAft>
                <a:spcPts val="0"/>
              </a:spcAft>
              <a:buNone/>
            </a:pPr>
            <a:r>
              <a:rPr lang="en-IN" sz="2800"/>
              <a:t>XLPLAT - Enterprise Resource Planning </a:t>
            </a:r>
            <a:endParaRPr sz="2800"/>
          </a:p>
          <a:p>
            <a:pPr indent="0" lvl="0" marL="0" rtl="0" algn="ctr">
              <a:lnSpc>
                <a:spcPct val="115000"/>
              </a:lnSpc>
              <a:spcBef>
                <a:spcPts val="0"/>
              </a:spcBef>
              <a:spcAft>
                <a:spcPts val="0"/>
              </a:spcAft>
              <a:buNone/>
            </a:pPr>
            <a:r>
              <a:rPr lang="en-IN" sz="2800"/>
              <a:t>System Using Django and TCL</a:t>
            </a:r>
            <a:endParaRPr b="1" sz="1400"/>
          </a:p>
        </p:txBody>
      </p:sp>
      <p:sp>
        <p:nvSpPr>
          <p:cNvPr id="28" name="Google Shape;28;p1"/>
          <p:cNvSpPr txBox="1"/>
          <p:nvPr/>
        </p:nvSpPr>
        <p:spPr>
          <a:xfrm>
            <a:off x="959983" y="635844"/>
            <a:ext cx="7429520" cy="980728"/>
          </a:xfrm>
          <a:prstGeom prst="rect">
            <a:avLst/>
          </a:prstGeom>
          <a:noFill/>
          <a:ln>
            <a:noFill/>
          </a:ln>
        </p:spPr>
        <p:txBody>
          <a:bodyPr anchorCtr="0" anchor="b" bIns="45700" lIns="91425" spcFirstLastPara="1" rIns="91425" wrap="square" tIns="45700">
            <a:noAutofit/>
          </a:bodyPr>
          <a:lstStyle/>
          <a:p>
            <a:pPr indent="0" lvl="0" marL="0" marR="0" rtl="0" algn="ctr">
              <a:lnSpc>
                <a:spcPct val="128571"/>
              </a:lnSpc>
              <a:spcBef>
                <a:spcPts val="0"/>
              </a:spcBef>
              <a:spcAft>
                <a:spcPts val="0"/>
              </a:spcAft>
              <a:buClr>
                <a:srgbClr val="000099"/>
              </a:buClr>
              <a:buSzPts val="2800"/>
              <a:buFont typeface="Palatino"/>
              <a:buNone/>
            </a:pPr>
            <a:r>
              <a:rPr b="1" i="0" lang="en-IN" sz="2800" u="none" cap="none" strike="noStrike">
                <a:solidFill>
                  <a:srgbClr val="000099"/>
                </a:solidFill>
                <a:latin typeface="Palatino"/>
                <a:ea typeface="Palatino"/>
                <a:cs typeface="Palatino"/>
                <a:sym typeface="Palatino"/>
              </a:rPr>
              <a:t>Jaypee University of Information Technology, Waknaghat - 173234 (India)</a:t>
            </a:r>
            <a:endParaRPr/>
          </a:p>
        </p:txBody>
      </p:sp>
      <p:sp>
        <p:nvSpPr>
          <p:cNvPr id="29" name="Google Shape;29;p1"/>
          <p:cNvSpPr/>
          <p:nvPr/>
        </p:nvSpPr>
        <p:spPr>
          <a:xfrm>
            <a:off x="1500060" y="1841236"/>
            <a:ext cx="6349367" cy="118494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en-IN" sz="2400" u="none" cap="none" strike="noStrike">
                <a:solidFill>
                  <a:schemeClr val="dk1"/>
                </a:solidFill>
                <a:latin typeface="Palatino"/>
                <a:ea typeface="Palatino"/>
                <a:cs typeface="Palatino"/>
                <a:sym typeface="Palatino"/>
              </a:rPr>
              <a:t>Major Project - II (18B19CI891) | AY 2024-25</a:t>
            </a:r>
            <a:endParaRPr/>
          </a:p>
          <a:p>
            <a:pPr indent="0" lvl="0" marL="0" marR="0" rtl="0" algn="ctr">
              <a:lnSpc>
                <a:spcPct val="200000"/>
              </a:lnSpc>
              <a:spcBef>
                <a:spcPts val="0"/>
              </a:spcBef>
              <a:spcAft>
                <a:spcPts val="0"/>
              </a:spcAft>
              <a:buNone/>
            </a:pPr>
            <a:r>
              <a:rPr b="1" i="0" lang="en-IN" sz="2000" u="none" cap="none" strike="noStrike">
                <a:solidFill>
                  <a:schemeClr val="dk1"/>
                </a:solidFill>
                <a:latin typeface="Palatino"/>
                <a:ea typeface="Palatino"/>
                <a:cs typeface="Palatino"/>
                <a:sym typeface="Palatino"/>
              </a:rPr>
              <a:t>Mid-Term Evaluation | March 17-22, 2025.</a:t>
            </a:r>
            <a:endParaRPr/>
          </a:p>
        </p:txBody>
      </p:sp>
      <p:sp>
        <p:nvSpPr>
          <p:cNvPr id="30" name="Google Shape;30;p1"/>
          <p:cNvSpPr txBox="1"/>
          <p:nvPr/>
        </p:nvSpPr>
        <p:spPr>
          <a:xfrm>
            <a:off x="507648" y="4422305"/>
            <a:ext cx="3620700" cy="2435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1800" u="none" cap="none" strike="noStrike">
                <a:solidFill>
                  <a:schemeClr val="dk1"/>
                </a:solidFill>
                <a:latin typeface="Helvetica Neue"/>
                <a:ea typeface="Helvetica Neue"/>
                <a:cs typeface="Helvetica Neue"/>
                <a:sym typeface="Helvetica Neue"/>
              </a:rPr>
              <a:t>Group No.: 27 C</a:t>
            </a:r>
            <a:endParaRPr/>
          </a:p>
          <a:p>
            <a:pPr indent="0" lvl="0" marL="0" marR="0" rtl="0" algn="l">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0" lvl="0" marL="0" marR="0" rtl="0" algn="l">
              <a:lnSpc>
                <a:spcPct val="114000"/>
              </a:lnSpc>
              <a:spcBef>
                <a:spcPts val="0"/>
              </a:spcBef>
              <a:spcAft>
                <a:spcPts val="0"/>
              </a:spcAft>
              <a:buNone/>
            </a:pPr>
            <a:r>
              <a:rPr b="1" lang="en-IN" sz="1600">
                <a:solidFill>
                  <a:schemeClr val="dk1"/>
                </a:solidFill>
                <a:latin typeface="Helvetica Neue"/>
                <a:ea typeface="Helvetica Neue"/>
                <a:cs typeface="Helvetica Neue"/>
                <a:sym typeface="Helvetica Neue"/>
              </a:rPr>
              <a:t>Student Details</a:t>
            </a:r>
            <a:endParaRPr b="1" sz="1600">
              <a:solidFill>
                <a:schemeClr val="dk1"/>
              </a:solidFill>
              <a:latin typeface="Helvetica Neue"/>
              <a:ea typeface="Helvetica Neue"/>
              <a:cs typeface="Helvetica Neue"/>
              <a:sym typeface="Helvetica Neue"/>
            </a:endParaRPr>
          </a:p>
          <a:p>
            <a:pPr indent="-285750" lvl="0" marL="285750" marR="0" rtl="0" algn="l">
              <a:lnSpc>
                <a:spcPct val="125000"/>
              </a:lnSpc>
              <a:spcBef>
                <a:spcPts val="1200"/>
              </a:spcBef>
              <a:spcAft>
                <a:spcPts val="0"/>
              </a:spcAft>
              <a:buClr>
                <a:schemeClr val="dk1"/>
              </a:buClr>
              <a:buSzPts val="1500"/>
              <a:buFont typeface="Arial"/>
              <a:buChar char="•"/>
            </a:pPr>
            <a:r>
              <a:rPr lang="en-IN" sz="1500">
                <a:solidFill>
                  <a:schemeClr val="dk1"/>
                </a:solidFill>
                <a:latin typeface="Tahoma"/>
                <a:ea typeface="Tahoma"/>
                <a:cs typeface="Tahoma"/>
                <a:sym typeface="Tahoma"/>
              </a:rPr>
              <a:t>Aryam (211392)</a:t>
            </a:r>
            <a:endParaRPr/>
          </a:p>
          <a:p>
            <a:pPr indent="-285750" lvl="0" marL="285750" marR="0" rtl="0" algn="l">
              <a:lnSpc>
                <a:spcPct val="125000"/>
              </a:lnSpc>
              <a:spcBef>
                <a:spcPts val="0"/>
              </a:spcBef>
              <a:spcAft>
                <a:spcPts val="0"/>
              </a:spcAft>
              <a:buClr>
                <a:schemeClr val="dk1"/>
              </a:buClr>
              <a:buSzPts val="1500"/>
              <a:buFont typeface="Arial"/>
              <a:buChar char="•"/>
            </a:pPr>
            <a:r>
              <a:rPr lang="en-IN" sz="1500">
                <a:solidFill>
                  <a:schemeClr val="dk1"/>
                </a:solidFill>
                <a:latin typeface="Tahoma"/>
                <a:ea typeface="Tahoma"/>
                <a:cs typeface="Tahoma"/>
                <a:sym typeface="Tahoma"/>
              </a:rPr>
              <a:t>Designation: Software Product Developer Intern</a:t>
            </a:r>
            <a:endParaRPr/>
          </a:p>
          <a:p>
            <a:pPr indent="-285750" lvl="0" marL="285750" marR="0" rtl="0" algn="l">
              <a:lnSpc>
                <a:spcPct val="125000"/>
              </a:lnSpc>
              <a:spcBef>
                <a:spcPts val="0"/>
              </a:spcBef>
              <a:spcAft>
                <a:spcPts val="0"/>
              </a:spcAft>
              <a:buClr>
                <a:schemeClr val="dk1"/>
              </a:buClr>
              <a:buSzPts val="1500"/>
              <a:buFont typeface="Arial"/>
              <a:buChar char="•"/>
            </a:pPr>
            <a:r>
              <a:rPr lang="en-IN" sz="1500">
                <a:solidFill>
                  <a:schemeClr val="dk1"/>
                </a:solidFill>
                <a:latin typeface="Tahoma"/>
                <a:ea typeface="Tahoma"/>
                <a:cs typeface="Tahoma"/>
                <a:sym typeface="Tahoma"/>
              </a:rPr>
              <a:t>Organization: TT </a:t>
            </a:r>
            <a:r>
              <a:rPr lang="en-IN" sz="1500">
                <a:solidFill>
                  <a:schemeClr val="dk1"/>
                </a:solidFill>
                <a:latin typeface="Tahoma"/>
                <a:ea typeface="Tahoma"/>
                <a:cs typeface="Tahoma"/>
                <a:sym typeface="Tahoma"/>
              </a:rPr>
              <a:t>Consultants</a:t>
            </a:r>
            <a:endParaRPr/>
          </a:p>
          <a:p>
            <a:pPr indent="-285750" lvl="0" marL="285750" marR="0" rtl="0" algn="l">
              <a:lnSpc>
                <a:spcPct val="125000"/>
              </a:lnSpc>
              <a:spcBef>
                <a:spcPts val="0"/>
              </a:spcBef>
              <a:spcAft>
                <a:spcPts val="0"/>
              </a:spcAft>
              <a:buClr>
                <a:schemeClr val="dk1"/>
              </a:buClr>
              <a:buSzPts val="1500"/>
              <a:buFont typeface="Arial"/>
              <a:buChar char="•"/>
            </a:pPr>
            <a:r>
              <a:rPr lang="en-IN" sz="1500">
                <a:solidFill>
                  <a:schemeClr val="dk1"/>
                </a:solidFill>
                <a:latin typeface="Tahoma"/>
                <a:ea typeface="Tahoma"/>
                <a:cs typeface="Tahoma"/>
                <a:sym typeface="Tahoma"/>
              </a:rPr>
              <a:t>Location: Mohali, Punjab</a:t>
            </a:r>
            <a:endParaRPr/>
          </a:p>
        </p:txBody>
      </p:sp>
      <p:sp>
        <p:nvSpPr>
          <p:cNvPr id="31" name="Google Shape;31;p1"/>
          <p:cNvSpPr txBox="1"/>
          <p:nvPr/>
        </p:nvSpPr>
        <p:spPr>
          <a:xfrm>
            <a:off x="4871438" y="4930859"/>
            <a:ext cx="4118400" cy="1589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600">
                <a:solidFill>
                  <a:schemeClr val="dk1"/>
                </a:solidFill>
                <a:latin typeface="Helvetica Neue"/>
                <a:ea typeface="Helvetica Neue"/>
                <a:cs typeface="Helvetica Neue"/>
                <a:sym typeface="Helvetica Neue"/>
              </a:rPr>
              <a:t>Supervisor</a:t>
            </a:r>
            <a:endParaRPr/>
          </a:p>
          <a:p>
            <a:pPr indent="-342900" lvl="0" marL="342900" marR="0" rtl="0" algn="l">
              <a:lnSpc>
                <a:spcPct val="125000"/>
              </a:lnSpc>
              <a:spcBef>
                <a:spcPts val="1200"/>
              </a:spcBef>
              <a:spcAft>
                <a:spcPts val="0"/>
              </a:spcAft>
              <a:buClr>
                <a:schemeClr val="dk1"/>
              </a:buClr>
              <a:buSzPts val="1500"/>
              <a:buFont typeface="Arial"/>
              <a:buChar char="•"/>
            </a:pPr>
            <a:r>
              <a:rPr lang="en-IN" sz="1500">
                <a:solidFill>
                  <a:schemeClr val="dk1"/>
                </a:solidFill>
                <a:latin typeface="Tahoma"/>
                <a:ea typeface="Tahoma"/>
                <a:cs typeface="Tahoma"/>
                <a:sym typeface="Tahoma"/>
              </a:rPr>
              <a:t>Name: Mr. Amit Kanwar</a:t>
            </a:r>
            <a:endParaRPr/>
          </a:p>
          <a:p>
            <a:pPr indent="-342900" lvl="0" marL="342900" marR="0" rtl="0" algn="l">
              <a:lnSpc>
                <a:spcPct val="125000"/>
              </a:lnSpc>
              <a:spcBef>
                <a:spcPts val="0"/>
              </a:spcBef>
              <a:spcAft>
                <a:spcPts val="0"/>
              </a:spcAft>
              <a:buClr>
                <a:schemeClr val="dk1"/>
              </a:buClr>
              <a:buSzPts val="1500"/>
              <a:buFont typeface="Arial"/>
              <a:buChar char="•"/>
            </a:pPr>
            <a:r>
              <a:rPr lang="en-IN" sz="1500">
                <a:solidFill>
                  <a:schemeClr val="dk1"/>
                </a:solidFill>
                <a:latin typeface="Tahoma"/>
                <a:ea typeface="Tahoma"/>
                <a:cs typeface="Tahoma"/>
                <a:sym typeface="Tahoma"/>
              </a:rPr>
              <a:t>Designation: Manager</a:t>
            </a:r>
            <a:endParaRPr/>
          </a:p>
          <a:p>
            <a:pPr indent="-350838" lvl="0" marL="360363" marR="0" rtl="0" algn="l">
              <a:lnSpc>
                <a:spcPct val="125000"/>
              </a:lnSpc>
              <a:spcBef>
                <a:spcPts val="0"/>
              </a:spcBef>
              <a:spcAft>
                <a:spcPts val="0"/>
              </a:spcAft>
              <a:buClr>
                <a:schemeClr val="dk1"/>
              </a:buClr>
              <a:buSzPts val="1500"/>
              <a:buFont typeface="Arial"/>
              <a:buChar char="•"/>
            </a:pPr>
            <a:r>
              <a:rPr lang="en-IN" sz="1500">
                <a:solidFill>
                  <a:schemeClr val="dk1"/>
                </a:solidFill>
                <a:latin typeface="Tahoma"/>
                <a:ea typeface="Tahoma"/>
                <a:cs typeface="Tahoma"/>
                <a:sym typeface="Tahoma"/>
              </a:rPr>
              <a:t>Organization: TT Consultants  </a:t>
            </a:r>
            <a:endParaRPr/>
          </a:p>
          <a:p>
            <a:pPr indent="-350838" lvl="0" marL="360363" marR="0" rtl="0" algn="l">
              <a:lnSpc>
                <a:spcPct val="125000"/>
              </a:lnSpc>
              <a:spcBef>
                <a:spcPts val="0"/>
              </a:spcBef>
              <a:spcAft>
                <a:spcPts val="0"/>
              </a:spcAft>
              <a:buClr>
                <a:schemeClr val="dk1"/>
              </a:buClr>
              <a:buSzPts val="1500"/>
              <a:buFont typeface="Arial"/>
              <a:buChar char="•"/>
            </a:pPr>
            <a:r>
              <a:rPr lang="en-IN" sz="1500">
                <a:solidFill>
                  <a:schemeClr val="dk1"/>
                </a:solidFill>
                <a:latin typeface="Tahoma"/>
                <a:ea typeface="Tahoma"/>
                <a:cs typeface="Tahoma"/>
                <a:sym typeface="Tahoma"/>
              </a:rPr>
              <a:t>Location:Mohali, Punjab</a:t>
            </a:r>
            <a:endParaRPr/>
          </a:p>
        </p:txBody>
      </p:sp>
      <p:pic>
        <p:nvPicPr>
          <p:cNvPr id="32" name="Google Shape;32;p1"/>
          <p:cNvPicPr preferRelativeResize="0"/>
          <p:nvPr/>
        </p:nvPicPr>
        <p:blipFill rotWithShape="1">
          <a:blip r:embed="rId3">
            <a:alphaModFix/>
          </a:blip>
          <a:srcRect b="0" l="0" r="0" t="0"/>
          <a:stretch/>
        </p:blipFill>
        <p:spPr>
          <a:xfrm>
            <a:off x="6852492" y="-165253"/>
            <a:ext cx="1178805" cy="895833"/>
          </a:xfrm>
          <a:prstGeom prst="rect">
            <a:avLst/>
          </a:prstGeom>
          <a:noFill/>
          <a:ln>
            <a:noFill/>
          </a:ln>
        </p:spPr>
      </p:pic>
      <p:pic>
        <p:nvPicPr>
          <p:cNvPr id="33" name="Google Shape;33;p1"/>
          <p:cNvPicPr preferRelativeResize="0"/>
          <p:nvPr/>
        </p:nvPicPr>
        <p:blipFill rotWithShape="1">
          <a:blip r:embed="rId4">
            <a:alphaModFix/>
          </a:blip>
          <a:srcRect b="0" l="0" r="0" t="0"/>
          <a:stretch/>
        </p:blipFill>
        <p:spPr>
          <a:xfrm>
            <a:off x="8054901" y="160424"/>
            <a:ext cx="1015707" cy="345492"/>
          </a:xfrm>
          <a:prstGeom prst="rect">
            <a:avLst/>
          </a:prstGeom>
          <a:noFill/>
          <a:ln>
            <a:noFill/>
          </a:ln>
        </p:spPr>
      </p:pic>
      <p:pic>
        <p:nvPicPr>
          <p:cNvPr descr="JUIT Office Photos | Glassdoor" id="34" name="Google Shape;34;p1"/>
          <p:cNvPicPr preferRelativeResize="0"/>
          <p:nvPr/>
        </p:nvPicPr>
        <p:blipFill rotWithShape="1">
          <a:blip r:embed="rId5">
            <a:alphaModFix/>
          </a:blip>
          <a:srcRect b="0" l="0" r="0" t="0"/>
          <a:stretch/>
        </p:blipFill>
        <p:spPr>
          <a:xfrm>
            <a:off x="11017" y="93342"/>
            <a:ext cx="815248" cy="67900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2"/>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Outline</a:t>
            </a:r>
            <a:endParaRPr/>
          </a:p>
        </p:txBody>
      </p:sp>
      <p:sp>
        <p:nvSpPr>
          <p:cNvPr id="41" name="Google Shape;41;p2"/>
          <p:cNvSpPr txBox="1"/>
          <p:nvPr/>
        </p:nvSpPr>
        <p:spPr>
          <a:xfrm>
            <a:off x="93593" y="724556"/>
            <a:ext cx="8956800" cy="5794800"/>
          </a:xfrm>
          <a:prstGeom prst="rect">
            <a:avLst/>
          </a:prstGeom>
          <a:noFill/>
          <a:ln>
            <a:noFill/>
          </a:ln>
        </p:spPr>
        <p:txBody>
          <a:bodyPr anchorCtr="0" anchor="t" bIns="45700" lIns="91425" spcFirstLastPara="1" rIns="91425" wrap="square" tIns="45700">
            <a:noAutofit/>
          </a:bodyPr>
          <a:lstStyle/>
          <a:p>
            <a:pPr indent="-261938" lvl="0" marL="357188" marR="0" rtl="0" algn="just">
              <a:lnSpc>
                <a:spcPct val="140000"/>
              </a:lnSpc>
              <a:spcBef>
                <a:spcPts val="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Introduction</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Problem Statement</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Objectives</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Work Done</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Project Design</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Implementation</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Experimental Results and Evaluation</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Key Learnings</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Work Plan (till End-Term Evaluation)</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Work Contribution and Other Details</a:t>
            </a:r>
            <a:endParaRPr/>
          </a:p>
          <a:p>
            <a:pPr indent="-261938" lvl="0" marL="357188" marR="0" rtl="0" algn="just">
              <a:lnSpc>
                <a:spcPct val="140000"/>
              </a:lnSpc>
              <a:spcBef>
                <a:spcPts val="63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References</a:t>
            </a:r>
            <a:endParaRPr/>
          </a:p>
          <a:p>
            <a:pPr indent="0" lvl="0" marL="0" marR="0" rtl="0" algn="just">
              <a:lnSpc>
                <a:spcPct val="150000"/>
              </a:lnSpc>
              <a:spcBef>
                <a:spcPts val="595"/>
              </a:spcBef>
              <a:spcAft>
                <a:spcPts val="0"/>
              </a:spcAft>
              <a:buClr>
                <a:schemeClr val="dk1"/>
              </a:buClr>
              <a:buSzPts val="2125"/>
              <a:buFont typeface="Arial"/>
              <a:buNone/>
            </a:pPr>
            <a:r>
              <a:t/>
            </a:r>
            <a:endParaRPr sz="1700">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Introduction</a:t>
            </a:r>
            <a:endParaRPr/>
          </a:p>
        </p:txBody>
      </p:sp>
      <p:sp>
        <p:nvSpPr>
          <p:cNvPr id="47" name="Google Shape;47;p3"/>
          <p:cNvSpPr txBox="1"/>
          <p:nvPr/>
        </p:nvSpPr>
        <p:spPr>
          <a:xfrm>
            <a:off x="40643" y="724556"/>
            <a:ext cx="8956800" cy="5794800"/>
          </a:xfrm>
          <a:prstGeom prst="rect">
            <a:avLst/>
          </a:prstGeom>
          <a:noFill/>
          <a:ln>
            <a:noFill/>
          </a:ln>
        </p:spPr>
        <p:txBody>
          <a:bodyPr anchorCtr="0" anchor="t" bIns="45700" lIns="91425" spcFirstLastPara="1" rIns="91425" wrap="square" tIns="45700">
            <a:noAutofit/>
          </a:bodyPr>
          <a:lstStyle/>
          <a:p>
            <a:pPr indent="-342900" lvl="0" marL="457200" rtl="0" algn="just">
              <a:lnSpc>
                <a:spcPct val="115000"/>
              </a:lnSpc>
              <a:spcBef>
                <a:spcPts val="1200"/>
              </a:spcBef>
              <a:spcAft>
                <a:spcPts val="0"/>
              </a:spcAft>
              <a:buClr>
                <a:schemeClr val="dk1"/>
              </a:buClr>
              <a:buSzPts val="1800"/>
              <a:buFont typeface="Helvetica Neue"/>
              <a:buChar char="●"/>
            </a:pPr>
            <a:r>
              <a:rPr lang="en-IN" sz="1800">
                <a:solidFill>
                  <a:schemeClr val="dk1"/>
                </a:solidFill>
                <a:latin typeface="Helvetica Neue"/>
                <a:ea typeface="Helvetica Neue"/>
                <a:cs typeface="Helvetica Neue"/>
                <a:sym typeface="Helvetica Neue"/>
              </a:rPr>
              <a:t>E</a:t>
            </a:r>
            <a:r>
              <a:rPr lang="en-IN" sz="1800">
                <a:solidFill>
                  <a:schemeClr val="dk1"/>
                </a:solidFill>
                <a:latin typeface="Helvetica Neue"/>
                <a:ea typeface="Helvetica Neue"/>
                <a:cs typeface="Helvetica Neue"/>
                <a:sym typeface="Helvetica Neue"/>
              </a:rPr>
              <a:t>nterprise Resource Planning (ERP) systems are crucial for organizations to streamline operations by integrating various business functions into a centralized system. In today's fast-paced work environment, managing multiple processes separately can lead to delays, miscommunication, and inefficiencies. </a:t>
            </a:r>
            <a:endParaRPr sz="1800">
              <a:solidFill>
                <a:schemeClr val="dk1"/>
              </a:solidFill>
              <a:latin typeface="Helvetica Neue"/>
              <a:ea typeface="Helvetica Neue"/>
              <a:cs typeface="Helvetica Neue"/>
              <a:sym typeface="Helvetica Neue"/>
            </a:endParaRPr>
          </a:p>
          <a:p>
            <a:pPr indent="-342900" lvl="0" marL="457200" rtl="0" algn="just">
              <a:lnSpc>
                <a:spcPct val="115000"/>
              </a:lnSpc>
              <a:spcBef>
                <a:spcPts val="0"/>
              </a:spcBef>
              <a:spcAft>
                <a:spcPts val="0"/>
              </a:spcAft>
              <a:buClr>
                <a:schemeClr val="dk1"/>
              </a:buClr>
              <a:buSzPts val="1800"/>
              <a:buFont typeface="Helvetica Neue"/>
              <a:buChar char="●"/>
            </a:pPr>
            <a:r>
              <a:rPr lang="en-IN" sz="1800">
                <a:solidFill>
                  <a:schemeClr val="dk1"/>
                </a:solidFill>
                <a:latin typeface="Helvetica Neue"/>
                <a:ea typeface="Helvetica Neue"/>
                <a:cs typeface="Helvetica Neue"/>
                <a:sym typeface="Helvetica Neue"/>
              </a:rPr>
              <a:t>This ERP system is specifically developed to automate and simplify essential workplace operations, including project allocation, attendance tracking, resignation management, mail transfer, and calendar scheduling. It provides a user-friendly interface with role-based access, allowing employees, managers, HR, and admins to seamlessly interact with the system based on their responsibilities. By centralizing data and automating workflows, it minimizes errors, enhances productivity, and ensures that all users have real-time access to the information they need.</a:t>
            </a:r>
            <a:endParaRPr sz="1800">
              <a:solidFill>
                <a:schemeClr val="dk1"/>
              </a:solidFill>
              <a:latin typeface="Helvetica Neue"/>
              <a:ea typeface="Helvetica Neue"/>
              <a:cs typeface="Helvetica Neue"/>
              <a:sym typeface="Helvetica Neue"/>
            </a:endParaRPr>
          </a:p>
          <a:p>
            <a:pPr indent="-342900" lvl="0" marL="457200" rtl="0" algn="just">
              <a:lnSpc>
                <a:spcPct val="115000"/>
              </a:lnSpc>
              <a:spcBef>
                <a:spcPts val="0"/>
              </a:spcBef>
              <a:spcAft>
                <a:spcPts val="0"/>
              </a:spcAft>
              <a:buClr>
                <a:schemeClr val="dk1"/>
              </a:buClr>
              <a:buSzPts val="1800"/>
              <a:buFont typeface="Helvetica Neue"/>
              <a:buChar char="●"/>
            </a:pPr>
            <a:r>
              <a:rPr lang="en-IN" sz="1800">
                <a:solidFill>
                  <a:schemeClr val="dk1"/>
                </a:solidFill>
                <a:latin typeface="Helvetica Neue"/>
                <a:ea typeface="Helvetica Neue"/>
                <a:cs typeface="Helvetica Neue"/>
                <a:sym typeface="Helvetica Neue"/>
              </a:rPr>
              <a:t>With a secure and scalable Django-based backend, the system guarantees data integrity and adaptability to meet the evolving needs of an organization. Ultimately, this ERP transforms day-to-day operations, making them more efficient, structured, and hassle-free.</a:t>
            </a:r>
            <a:endParaRPr sz="2500">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4"/>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Problem Statement</a:t>
            </a:r>
            <a:endParaRPr/>
          </a:p>
        </p:txBody>
      </p:sp>
      <p:sp>
        <p:nvSpPr>
          <p:cNvPr id="53" name="Google Shape;53;p4"/>
          <p:cNvSpPr txBox="1"/>
          <p:nvPr/>
        </p:nvSpPr>
        <p:spPr>
          <a:xfrm>
            <a:off x="40643" y="724557"/>
            <a:ext cx="8956800" cy="5761800"/>
          </a:xfrm>
          <a:prstGeom prst="rect">
            <a:avLst/>
          </a:prstGeom>
          <a:noFill/>
          <a:ln>
            <a:noFill/>
          </a:ln>
        </p:spPr>
        <p:txBody>
          <a:bodyPr anchorCtr="0" anchor="t" bIns="45700" lIns="91425" spcFirstLastPara="1" rIns="91425" wrap="square" tIns="45700">
            <a:noAutofit/>
          </a:bodyPr>
          <a:lstStyle/>
          <a:p>
            <a:pPr indent="-371475" lvl="0" marL="457200" rtl="0" algn="just">
              <a:lnSpc>
                <a:spcPct val="115000"/>
              </a:lnSpc>
              <a:spcBef>
                <a:spcPts val="1200"/>
              </a:spcBef>
              <a:spcAft>
                <a:spcPts val="0"/>
              </a:spcAft>
              <a:buClr>
                <a:schemeClr val="dk1"/>
              </a:buClr>
              <a:buSzPts val="2250"/>
              <a:buChar char="•"/>
            </a:pPr>
            <a:r>
              <a:rPr lang="en-IN" sz="1800">
                <a:solidFill>
                  <a:schemeClr val="dk1"/>
                </a:solidFill>
                <a:latin typeface="Helvetica Neue"/>
                <a:ea typeface="Helvetica Neue"/>
                <a:cs typeface="Helvetica Neue"/>
                <a:sym typeface="Helvetica Neue"/>
              </a:rPr>
              <a:t>In many organizations and companies, managing projects, attendance, resignations, communication, and scheduling can be a real headache. Employees often struggle with tracking their attendance, submitting resignations, and getting timely approvals, while managers and HR teams deal with manual paperwork, delays, and inefficiencies. Sending important emails requires switching to external software, which adds unnecessary steps and increases the chances of miscommunication.</a:t>
            </a:r>
            <a:endParaRPr b="1" sz="13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IN" sz="1800">
                <a:solidFill>
                  <a:schemeClr val="dk1"/>
                </a:solidFill>
                <a:latin typeface="Helvetica Neue"/>
                <a:ea typeface="Helvetica Neue"/>
                <a:cs typeface="Helvetica Neue"/>
                <a:sym typeface="Helvetica Neue"/>
              </a:rPr>
              <a:t>Additionally, project allocations and tracking the work done by fellow employees on the same project become chaotic due to the lack of a centralized system, leading to confusion, duplication of effort, and missed deadlines.</a:t>
            </a:r>
            <a:endParaRPr sz="1800">
              <a:solidFill>
                <a:schemeClr val="dk1"/>
              </a:solidFill>
              <a:latin typeface="Helvetica Neue"/>
              <a:ea typeface="Helvetica Neue"/>
              <a:cs typeface="Helvetica Neue"/>
              <a:sym typeface="Helvetica Neue"/>
            </a:endParaRPr>
          </a:p>
          <a:p>
            <a:pPr indent="-342900" lvl="0" marL="457200" rtl="0" algn="just">
              <a:lnSpc>
                <a:spcPct val="115000"/>
              </a:lnSpc>
              <a:spcBef>
                <a:spcPts val="0"/>
              </a:spcBef>
              <a:spcAft>
                <a:spcPts val="0"/>
              </a:spcAft>
              <a:buClr>
                <a:schemeClr val="dk1"/>
              </a:buClr>
              <a:buSzPts val="1800"/>
              <a:buChar char="•"/>
            </a:pPr>
            <a:r>
              <a:rPr lang="en-IN" sz="1800">
                <a:solidFill>
                  <a:schemeClr val="dk1"/>
                </a:solidFill>
                <a:latin typeface="Helvetica Neue"/>
                <a:ea typeface="Helvetica Neue"/>
                <a:cs typeface="Helvetica Neue"/>
                <a:sym typeface="Helvetica Neue"/>
              </a:rPr>
              <a:t>This not only slows down productivity but also creates frustration among employees and decision-makers. Without an integrated system, organizations struggle to maintain transparency, accountability, and efficiency in their daily operations. </a:t>
            </a:r>
            <a:endParaRPr sz="1800">
              <a:solidFill>
                <a:schemeClr val="dk1"/>
              </a:solidFill>
              <a:latin typeface="Helvetica Neue"/>
              <a:ea typeface="Helvetica Neue"/>
              <a:cs typeface="Helvetica Neue"/>
              <a:sym typeface="Helvetica Neue"/>
            </a:endParaRPr>
          </a:p>
          <a:p>
            <a:pPr indent="-342900" lvl="0" marL="457200" rtl="0" algn="just">
              <a:lnSpc>
                <a:spcPct val="115000"/>
              </a:lnSpc>
              <a:spcBef>
                <a:spcPts val="0"/>
              </a:spcBef>
              <a:spcAft>
                <a:spcPts val="0"/>
              </a:spcAft>
              <a:buClr>
                <a:schemeClr val="dk1"/>
              </a:buClr>
              <a:buSzPts val="1800"/>
              <a:buChar char="•"/>
            </a:pPr>
            <a:r>
              <a:rPr lang="en-IN" sz="1800">
                <a:solidFill>
                  <a:schemeClr val="dk1"/>
                </a:solidFill>
                <a:latin typeface="Helvetica Neue"/>
                <a:ea typeface="Helvetica Neue"/>
                <a:cs typeface="Helvetica Neue"/>
                <a:sym typeface="Helvetica Neue"/>
              </a:rPr>
              <a:t>To solve these challenges, we need an intuitive, automated ERP system that brings everything under one roof—streamlining workflows, automating approvals, and ensuring seamless communication for a more efficient and organized workplace.</a:t>
            </a:r>
            <a:endParaRPr sz="1800">
              <a:solidFill>
                <a:schemeClr val="dk1"/>
              </a:solidFill>
              <a:latin typeface="Helvetica Neue"/>
              <a:ea typeface="Helvetica Neue"/>
              <a:cs typeface="Helvetica Neue"/>
              <a:sym typeface="Helvetica Neue"/>
            </a:endParaRPr>
          </a:p>
          <a:p>
            <a:pPr indent="0" lvl="0" marL="0" marR="0" rtl="0" algn="just">
              <a:lnSpc>
                <a:spcPct val="150000"/>
              </a:lnSpc>
              <a:spcBef>
                <a:spcPts val="120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5"/>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Objectives</a:t>
            </a:r>
            <a:endParaRPr/>
          </a:p>
        </p:txBody>
      </p:sp>
      <p:sp>
        <p:nvSpPr>
          <p:cNvPr id="59" name="Google Shape;59;p5"/>
          <p:cNvSpPr txBox="1"/>
          <p:nvPr/>
        </p:nvSpPr>
        <p:spPr>
          <a:xfrm>
            <a:off x="40643" y="724557"/>
            <a:ext cx="8956800" cy="5761800"/>
          </a:xfrm>
          <a:prstGeom prst="rect">
            <a:avLst/>
          </a:prstGeom>
          <a:noFill/>
          <a:ln>
            <a:noFill/>
          </a:ln>
        </p:spPr>
        <p:txBody>
          <a:bodyPr anchorCtr="0" anchor="t" bIns="45700" lIns="91425" spcFirstLastPara="1" rIns="91425" wrap="square" tIns="45700">
            <a:noAutofit/>
          </a:bodyPr>
          <a:lstStyle/>
          <a:p>
            <a:pPr indent="-261937" lvl="0" marL="357187" marR="0" rtl="0" algn="just">
              <a:lnSpc>
                <a:spcPct val="115000"/>
              </a:lnSpc>
              <a:spcBef>
                <a:spcPts val="0"/>
              </a:spcBef>
              <a:spcAft>
                <a:spcPts val="0"/>
              </a:spcAft>
              <a:buClr>
                <a:schemeClr val="dk1"/>
              </a:buClr>
              <a:buSzPts val="2250"/>
              <a:buFont typeface="Arial"/>
              <a:buChar char="•"/>
            </a:pPr>
            <a:r>
              <a:rPr b="1" lang="en-IN" sz="1800">
                <a:solidFill>
                  <a:schemeClr val="dk1"/>
                </a:solidFill>
                <a:latin typeface="Helvetica Neue"/>
                <a:ea typeface="Helvetica Neue"/>
                <a:cs typeface="Helvetica Neue"/>
                <a:sym typeface="Helvetica Neue"/>
              </a:rPr>
              <a:t>Streamlining Business Operations: </a:t>
            </a:r>
            <a:r>
              <a:rPr lang="en-IN" sz="1800">
                <a:solidFill>
                  <a:schemeClr val="dk1"/>
                </a:solidFill>
                <a:latin typeface="Helvetica Neue"/>
                <a:ea typeface="Helvetica Neue"/>
                <a:cs typeface="Helvetica Neue"/>
                <a:sym typeface="Helvetica Neue"/>
              </a:rPr>
              <a:t>The ERP system integrates core workplace functions such as project allocation, attendance tracking, resignation management, mail transfer, and calendar scheduling, reducing manual effort and improving workflow efficiency.</a:t>
            </a:r>
            <a:endParaRPr sz="1800">
              <a:solidFill>
                <a:schemeClr val="dk1"/>
              </a:solidFill>
              <a:latin typeface="Helvetica Neue"/>
              <a:ea typeface="Helvetica Neue"/>
              <a:cs typeface="Helvetica Neue"/>
              <a:sym typeface="Helvetica Neue"/>
            </a:endParaRPr>
          </a:p>
          <a:p>
            <a:pPr indent="-261937" lvl="0" marL="357187" marR="0" rtl="0" algn="just">
              <a:lnSpc>
                <a:spcPct val="115000"/>
              </a:lnSpc>
              <a:spcBef>
                <a:spcPts val="0"/>
              </a:spcBef>
              <a:spcAft>
                <a:spcPts val="0"/>
              </a:spcAft>
              <a:buClr>
                <a:schemeClr val="dk1"/>
              </a:buClr>
              <a:buSzPts val="2250"/>
              <a:buFont typeface="Arial"/>
              <a:buChar char="•"/>
            </a:pPr>
            <a:r>
              <a:rPr b="1" lang="en-IN" sz="1800">
                <a:solidFill>
                  <a:schemeClr val="dk1"/>
                </a:solidFill>
                <a:latin typeface="Helvetica Neue"/>
                <a:ea typeface="Helvetica Neue"/>
                <a:cs typeface="Helvetica Neue"/>
                <a:sym typeface="Helvetica Neue"/>
              </a:rPr>
              <a:t>Enhancing Automation and Transparency:</a:t>
            </a:r>
            <a:r>
              <a:rPr lang="en-IN" sz="1800">
                <a:solidFill>
                  <a:schemeClr val="dk1"/>
                </a:solidFill>
                <a:latin typeface="Helvetica Neue"/>
                <a:ea typeface="Helvetica Neue"/>
                <a:cs typeface="Helvetica Neue"/>
                <a:sym typeface="Helvetica Neue"/>
              </a:rPr>
              <a:t> By automating approvals, notifications, and record-keeping, the system ensures real-time updates, accurate data management, and seamless tracking, eliminating inefficiencies and delays in decision-making.</a:t>
            </a:r>
            <a:endParaRPr sz="1800">
              <a:solidFill>
                <a:schemeClr val="dk1"/>
              </a:solidFill>
              <a:latin typeface="Helvetica Neue"/>
              <a:ea typeface="Helvetica Neue"/>
              <a:cs typeface="Helvetica Neue"/>
              <a:sym typeface="Helvetica Neue"/>
            </a:endParaRPr>
          </a:p>
          <a:p>
            <a:pPr indent="-233362" lvl="0" marL="357187" marR="0" rtl="0" algn="just">
              <a:lnSpc>
                <a:spcPct val="115000"/>
              </a:lnSpc>
              <a:spcBef>
                <a:spcPts val="0"/>
              </a:spcBef>
              <a:spcAft>
                <a:spcPts val="0"/>
              </a:spcAft>
              <a:buClr>
                <a:schemeClr val="dk1"/>
              </a:buClr>
              <a:buSzPts val="1800"/>
              <a:buFont typeface="Helvetica Neue"/>
              <a:buChar char="•"/>
            </a:pPr>
            <a:r>
              <a:rPr b="1" lang="en-IN" sz="1800">
                <a:solidFill>
                  <a:schemeClr val="dk1"/>
                </a:solidFill>
                <a:latin typeface="Helvetica Neue"/>
                <a:ea typeface="Helvetica Neue"/>
                <a:cs typeface="Helvetica Neue"/>
                <a:sym typeface="Helvetica Neue"/>
              </a:rPr>
              <a:t>Improving Communication and Collaboration:</a:t>
            </a:r>
            <a:r>
              <a:rPr lang="en-IN" sz="1800">
                <a:solidFill>
                  <a:schemeClr val="dk1"/>
                </a:solidFill>
                <a:latin typeface="Helvetica Neue"/>
                <a:ea typeface="Helvetica Neue"/>
                <a:cs typeface="Helvetica Neue"/>
                <a:sym typeface="Helvetica Neue"/>
              </a:rPr>
              <a:t> With a centralized platform, employees, managers, and HR can interact smoothly, reducing miscommunication and dependency on external tools for emails, project updates, and scheduling.</a:t>
            </a:r>
            <a:endParaRPr sz="1800">
              <a:solidFill>
                <a:schemeClr val="dk1"/>
              </a:solidFill>
              <a:latin typeface="Helvetica Neue"/>
              <a:ea typeface="Helvetica Neue"/>
              <a:cs typeface="Helvetica Neue"/>
              <a:sym typeface="Helvetica Neue"/>
            </a:endParaRPr>
          </a:p>
          <a:p>
            <a:pPr indent="-233362" lvl="0" marL="357187" marR="0" rtl="0" algn="just">
              <a:lnSpc>
                <a:spcPct val="115000"/>
              </a:lnSpc>
              <a:spcBef>
                <a:spcPts val="0"/>
              </a:spcBef>
              <a:spcAft>
                <a:spcPts val="0"/>
              </a:spcAft>
              <a:buClr>
                <a:schemeClr val="dk1"/>
              </a:buClr>
              <a:buSzPts val="1800"/>
              <a:buFont typeface="Helvetica Neue"/>
              <a:buChar char="•"/>
            </a:pPr>
            <a:r>
              <a:rPr b="1" lang="en-IN" sz="1800">
                <a:solidFill>
                  <a:schemeClr val="dk1"/>
                </a:solidFill>
                <a:latin typeface="Helvetica Neue"/>
                <a:ea typeface="Helvetica Neue"/>
                <a:cs typeface="Helvetica Neue"/>
                <a:sym typeface="Helvetica Neue"/>
              </a:rPr>
              <a:t>Ensuring Scalability and Data Security:</a:t>
            </a:r>
            <a:r>
              <a:rPr lang="en-IN" sz="1800">
                <a:solidFill>
                  <a:schemeClr val="dk1"/>
                </a:solidFill>
                <a:latin typeface="Helvetica Neue"/>
                <a:ea typeface="Helvetica Neue"/>
                <a:cs typeface="Helvetica Neue"/>
                <a:sym typeface="Helvetica Neue"/>
              </a:rPr>
              <a:t> Built on a robust Django-based backend, the system guarantees data integrity, secure access control, and adaptability, making it capable of handling an organization's growing needs efficiently.</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6"/>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Work Done </a:t>
            </a:r>
            <a:r>
              <a:rPr b="0" lang="en-IN" sz="2400"/>
              <a:t>(after Major Project - I)</a:t>
            </a:r>
            <a:endParaRPr b="0"/>
          </a:p>
        </p:txBody>
      </p:sp>
      <p:sp>
        <p:nvSpPr>
          <p:cNvPr id="65" name="Google Shape;65;p6"/>
          <p:cNvSpPr txBox="1"/>
          <p:nvPr/>
        </p:nvSpPr>
        <p:spPr>
          <a:xfrm>
            <a:off x="40643" y="724556"/>
            <a:ext cx="8956800" cy="57948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None/>
            </a:pPr>
            <a:r>
              <a:rPr lang="en-IN" sz="1800">
                <a:solidFill>
                  <a:schemeClr val="dk1"/>
                </a:solidFill>
                <a:latin typeface="Helvetica Neue"/>
                <a:ea typeface="Helvetica Neue"/>
                <a:cs typeface="Helvetica Neue"/>
                <a:sym typeface="Helvetica Neue"/>
              </a:rPr>
              <a:t>Since I have opted for a new project after getting placed and starting my internship, my work has been focused on developing and optimizing the ERP system.</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7"/>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Project Design</a:t>
            </a:r>
            <a:endParaRPr/>
          </a:p>
        </p:txBody>
      </p:sp>
      <p:sp>
        <p:nvSpPr>
          <p:cNvPr id="71" name="Google Shape;71;p7"/>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72" name="Google Shape;72;p7" title="Untitled diagram-2025-03-18-203753.png"/>
          <p:cNvPicPr preferRelativeResize="0"/>
          <p:nvPr/>
        </p:nvPicPr>
        <p:blipFill>
          <a:blip r:embed="rId3">
            <a:alphaModFix/>
          </a:blip>
          <a:stretch>
            <a:fillRect/>
          </a:stretch>
        </p:blipFill>
        <p:spPr>
          <a:xfrm>
            <a:off x="1935200" y="724550"/>
            <a:ext cx="5240550" cy="5616225"/>
          </a:xfrm>
          <a:prstGeom prst="rect">
            <a:avLst/>
          </a:prstGeom>
          <a:noFill/>
          <a:ln>
            <a:noFill/>
          </a:ln>
        </p:spPr>
      </p:pic>
      <p:sp>
        <p:nvSpPr>
          <p:cNvPr id="73" name="Google Shape;73;p7"/>
          <p:cNvSpPr txBox="1"/>
          <p:nvPr/>
        </p:nvSpPr>
        <p:spPr>
          <a:xfrm>
            <a:off x="902100" y="6275100"/>
            <a:ext cx="723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a:solidFill>
                  <a:schemeClr val="dk1"/>
                </a:solidFill>
                <a:latin typeface="Helvetica Neue"/>
                <a:ea typeface="Helvetica Neue"/>
                <a:cs typeface="Helvetica Neue"/>
                <a:sym typeface="Helvetica Neue"/>
              </a:rPr>
              <a:t>Figure 1. System Architecture</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9"/>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IN" sz="2400"/>
              <a:t>Project Design </a:t>
            </a:r>
            <a:r>
              <a:rPr b="0" lang="en-IN" sz="2400"/>
              <a:t>(cont…)</a:t>
            </a:r>
            <a:endParaRPr b="0"/>
          </a:p>
        </p:txBody>
      </p:sp>
      <p:sp>
        <p:nvSpPr>
          <p:cNvPr id="79" name="Google Shape;79;p9"/>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80" name="Google Shape;80;p9" title="Untitled diagram-2025-03-18-191128.png"/>
          <p:cNvPicPr preferRelativeResize="0"/>
          <p:nvPr/>
        </p:nvPicPr>
        <p:blipFill>
          <a:blip r:embed="rId3">
            <a:alphaModFix/>
          </a:blip>
          <a:stretch>
            <a:fillRect/>
          </a:stretch>
        </p:blipFill>
        <p:spPr>
          <a:xfrm>
            <a:off x="516100" y="871841"/>
            <a:ext cx="1729126" cy="5307254"/>
          </a:xfrm>
          <a:prstGeom prst="rect">
            <a:avLst/>
          </a:prstGeom>
          <a:noFill/>
          <a:ln>
            <a:noFill/>
          </a:ln>
        </p:spPr>
      </p:pic>
      <p:pic>
        <p:nvPicPr>
          <p:cNvPr id="81" name="Google Shape;81;p9" title="Untitled diagram-2025-03-18-191455.png"/>
          <p:cNvPicPr preferRelativeResize="0"/>
          <p:nvPr/>
        </p:nvPicPr>
        <p:blipFill>
          <a:blip r:embed="rId4">
            <a:alphaModFix/>
          </a:blip>
          <a:stretch>
            <a:fillRect/>
          </a:stretch>
        </p:blipFill>
        <p:spPr>
          <a:xfrm>
            <a:off x="3209933" y="871865"/>
            <a:ext cx="2304979" cy="5442483"/>
          </a:xfrm>
          <a:prstGeom prst="rect">
            <a:avLst/>
          </a:prstGeom>
          <a:noFill/>
          <a:ln>
            <a:noFill/>
          </a:ln>
        </p:spPr>
      </p:pic>
      <p:pic>
        <p:nvPicPr>
          <p:cNvPr id="82" name="Google Shape;82;p9" title="Untitled diagram-2025-03-18-191759.png"/>
          <p:cNvPicPr preferRelativeResize="0"/>
          <p:nvPr/>
        </p:nvPicPr>
        <p:blipFill>
          <a:blip r:embed="rId5">
            <a:alphaModFix/>
          </a:blip>
          <a:stretch>
            <a:fillRect/>
          </a:stretch>
        </p:blipFill>
        <p:spPr>
          <a:xfrm>
            <a:off x="6722820" y="804225"/>
            <a:ext cx="1646730" cy="5442483"/>
          </a:xfrm>
          <a:prstGeom prst="rect">
            <a:avLst/>
          </a:prstGeom>
          <a:noFill/>
          <a:ln>
            <a:noFill/>
          </a:ln>
        </p:spPr>
      </p:pic>
      <p:sp>
        <p:nvSpPr>
          <p:cNvPr id="83" name="Google Shape;83;p9"/>
          <p:cNvSpPr txBox="1"/>
          <p:nvPr/>
        </p:nvSpPr>
        <p:spPr>
          <a:xfrm>
            <a:off x="431765" y="6179100"/>
            <a:ext cx="1897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sz="1000">
                <a:solidFill>
                  <a:schemeClr val="dk1"/>
                </a:solidFill>
                <a:latin typeface="Helvetica Neue"/>
                <a:ea typeface="Helvetica Neue"/>
                <a:cs typeface="Helvetica Neue"/>
                <a:sym typeface="Helvetica Neue"/>
              </a:rPr>
              <a:t>Figure 2. Project Workflow</a:t>
            </a:r>
            <a:endParaRPr sz="1000">
              <a:solidFill>
                <a:schemeClr val="dk1"/>
              </a:solidFill>
              <a:latin typeface="Helvetica Neue"/>
              <a:ea typeface="Helvetica Neue"/>
              <a:cs typeface="Helvetica Neue"/>
              <a:sym typeface="Helvetica Neue"/>
            </a:endParaRPr>
          </a:p>
        </p:txBody>
      </p:sp>
      <p:sp>
        <p:nvSpPr>
          <p:cNvPr id="84" name="Google Shape;84;p9"/>
          <p:cNvSpPr txBox="1"/>
          <p:nvPr/>
        </p:nvSpPr>
        <p:spPr>
          <a:xfrm>
            <a:off x="3249712" y="6246700"/>
            <a:ext cx="2225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sz="1000">
                <a:solidFill>
                  <a:schemeClr val="dk1"/>
                </a:solidFill>
                <a:latin typeface="Helvetica Neue"/>
                <a:ea typeface="Helvetica Neue"/>
                <a:cs typeface="Helvetica Neue"/>
                <a:sym typeface="Helvetica Neue"/>
              </a:rPr>
              <a:t>Figure 3. Resignation Workflow</a:t>
            </a:r>
            <a:endParaRPr sz="1000">
              <a:solidFill>
                <a:schemeClr val="dk1"/>
              </a:solidFill>
              <a:latin typeface="Helvetica Neue"/>
              <a:ea typeface="Helvetica Neue"/>
              <a:cs typeface="Helvetica Neue"/>
              <a:sym typeface="Helvetica Neue"/>
            </a:endParaRPr>
          </a:p>
        </p:txBody>
      </p:sp>
      <p:sp>
        <p:nvSpPr>
          <p:cNvPr id="85" name="Google Shape;85;p9"/>
          <p:cNvSpPr txBox="1"/>
          <p:nvPr/>
        </p:nvSpPr>
        <p:spPr>
          <a:xfrm>
            <a:off x="6597275" y="6314350"/>
            <a:ext cx="2005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sz="1000">
                <a:solidFill>
                  <a:schemeClr val="dk1"/>
                </a:solidFill>
                <a:latin typeface="Helvetica Neue"/>
                <a:ea typeface="Helvetica Neue"/>
                <a:cs typeface="Helvetica Neue"/>
                <a:sym typeface="Helvetica Neue"/>
              </a:rPr>
              <a:t>Figure 4. Attendance Workflow</a:t>
            </a:r>
            <a:endParaRPr sz="1000">
              <a:solidFill>
                <a:schemeClr val="dk1"/>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41718daa45_0_25"/>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IN" sz="2400"/>
              <a:t>Project Design</a:t>
            </a:r>
            <a:endParaRPr/>
          </a:p>
        </p:txBody>
      </p:sp>
      <p:sp>
        <p:nvSpPr>
          <p:cNvPr id="91" name="Google Shape;91;g341718daa45_0_25"/>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92" name="Google Shape;92;g341718daa45_0_25" title="Untitled diagram-2025-03-18-200515.png"/>
          <p:cNvPicPr preferRelativeResize="0"/>
          <p:nvPr/>
        </p:nvPicPr>
        <p:blipFill rotWithShape="1">
          <a:blip r:embed="rId3">
            <a:alphaModFix/>
          </a:blip>
          <a:srcRect b="0" l="-416" r="-1096" t="0"/>
          <a:stretch/>
        </p:blipFill>
        <p:spPr>
          <a:xfrm>
            <a:off x="40650" y="724675"/>
            <a:ext cx="8956800" cy="5665172"/>
          </a:xfrm>
          <a:prstGeom prst="rect">
            <a:avLst/>
          </a:prstGeom>
          <a:noFill/>
          <a:ln>
            <a:noFill/>
          </a:ln>
        </p:spPr>
      </p:pic>
      <p:sp>
        <p:nvSpPr>
          <p:cNvPr id="93" name="Google Shape;93;g341718daa45_0_25"/>
          <p:cNvSpPr txBox="1"/>
          <p:nvPr/>
        </p:nvSpPr>
        <p:spPr>
          <a:xfrm>
            <a:off x="3623090" y="6325025"/>
            <a:ext cx="1897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sz="1000">
                <a:solidFill>
                  <a:schemeClr val="dk1"/>
                </a:solidFill>
                <a:latin typeface="Helvetica Neue"/>
                <a:ea typeface="Helvetica Neue"/>
                <a:cs typeface="Helvetica Neue"/>
                <a:sym typeface="Helvetica Neue"/>
              </a:rPr>
              <a:t>Figure 5. ER-Diagram </a:t>
            </a:r>
            <a:endParaRPr sz="1000">
              <a:solidFill>
                <a:schemeClr val="dk1"/>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0"/>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Implementation</a:t>
            </a:r>
            <a:endParaRPr/>
          </a:p>
        </p:txBody>
      </p:sp>
      <p:sp>
        <p:nvSpPr>
          <p:cNvPr id="99" name="Google Shape;99;p10"/>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800"/>
              <a:buFont typeface="Helvetica Neue"/>
              <a:buNone/>
            </a:pPr>
            <a:r>
              <a:t/>
            </a:r>
            <a:endParaRPr sz="1800" u="sng">
              <a:solidFill>
                <a:schemeClr val="dk1"/>
              </a:solidFill>
              <a:latin typeface="Helvetica Neue"/>
              <a:ea typeface="Helvetica Neue"/>
              <a:cs typeface="Helvetica Neue"/>
              <a:sym typeface="Helvetica Neue"/>
            </a:endParaRPr>
          </a:p>
        </p:txBody>
      </p:sp>
      <p:pic>
        <p:nvPicPr>
          <p:cNvPr id="100" name="Google Shape;100;p10" title="Screenshot 2025-03-19 at 2.34.13 AM.png"/>
          <p:cNvPicPr preferRelativeResize="0"/>
          <p:nvPr/>
        </p:nvPicPr>
        <p:blipFill>
          <a:blip r:embed="rId3">
            <a:alphaModFix/>
          </a:blip>
          <a:stretch>
            <a:fillRect/>
          </a:stretch>
        </p:blipFill>
        <p:spPr>
          <a:xfrm>
            <a:off x="40650" y="803675"/>
            <a:ext cx="8956698" cy="5250649"/>
          </a:xfrm>
          <a:prstGeom prst="rect">
            <a:avLst/>
          </a:prstGeom>
          <a:noFill/>
          <a:ln>
            <a:noFill/>
          </a:ln>
        </p:spPr>
      </p:pic>
      <p:sp>
        <p:nvSpPr>
          <p:cNvPr id="101" name="Google Shape;101;p10"/>
          <p:cNvSpPr txBox="1"/>
          <p:nvPr/>
        </p:nvSpPr>
        <p:spPr>
          <a:xfrm>
            <a:off x="1130700" y="6133450"/>
            <a:ext cx="72387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sz="1500">
                <a:solidFill>
                  <a:schemeClr val="dk1"/>
                </a:solidFill>
                <a:latin typeface="Helvetica Neue"/>
                <a:ea typeface="Helvetica Neue"/>
                <a:cs typeface="Helvetica Neue"/>
                <a:sym typeface="Helvetica Neue"/>
              </a:rPr>
              <a:t>Figure 6. ERP Dashboard (Employee View)</a:t>
            </a:r>
            <a:endParaRPr sz="1500">
              <a:solidFill>
                <a:schemeClr val="dk1"/>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1"/>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Implementation </a:t>
            </a:r>
            <a:r>
              <a:rPr b="0" lang="en-IN" sz="2400"/>
              <a:t>(cont…)</a:t>
            </a:r>
            <a:endParaRPr b="0"/>
          </a:p>
        </p:txBody>
      </p:sp>
      <p:sp>
        <p:nvSpPr>
          <p:cNvPr id="107" name="Google Shape;107;p11"/>
          <p:cNvSpPr txBox="1"/>
          <p:nvPr/>
        </p:nvSpPr>
        <p:spPr>
          <a:xfrm>
            <a:off x="93600" y="724550"/>
            <a:ext cx="8956800" cy="5874600"/>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08" name="Google Shape;108;p11" title="Screenshot 2025-03-19 at 2.39.04 AM.png"/>
          <p:cNvPicPr preferRelativeResize="0"/>
          <p:nvPr/>
        </p:nvPicPr>
        <p:blipFill>
          <a:blip r:embed="rId3">
            <a:alphaModFix/>
          </a:blip>
          <a:stretch>
            <a:fillRect/>
          </a:stretch>
        </p:blipFill>
        <p:spPr>
          <a:xfrm>
            <a:off x="164600" y="724550"/>
            <a:ext cx="4688625" cy="2690024"/>
          </a:xfrm>
          <a:prstGeom prst="rect">
            <a:avLst/>
          </a:prstGeom>
          <a:noFill/>
          <a:ln>
            <a:noFill/>
          </a:ln>
        </p:spPr>
      </p:pic>
      <p:pic>
        <p:nvPicPr>
          <p:cNvPr id="109" name="Google Shape;109;p11" title="Screenshot 2025-03-19 at 2.42.50 AM.png"/>
          <p:cNvPicPr preferRelativeResize="0"/>
          <p:nvPr/>
        </p:nvPicPr>
        <p:blipFill>
          <a:blip r:embed="rId4">
            <a:alphaModFix/>
          </a:blip>
          <a:stretch>
            <a:fillRect/>
          </a:stretch>
        </p:blipFill>
        <p:spPr>
          <a:xfrm>
            <a:off x="5914400" y="724551"/>
            <a:ext cx="2871930" cy="5254898"/>
          </a:xfrm>
          <a:prstGeom prst="rect">
            <a:avLst/>
          </a:prstGeom>
          <a:noFill/>
          <a:ln>
            <a:noFill/>
          </a:ln>
        </p:spPr>
      </p:pic>
      <p:pic>
        <p:nvPicPr>
          <p:cNvPr id="110" name="Google Shape;110;p11" title="Screenshot 2025-03-19 at 2.44.14 AM.png"/>
          <p:cNvPicPr preferRelativeResize="0"/>
          <p:nvPr/>
        </p:nvPicPr>
        <p:blipFill>
          <a:blip r:embed="rId5">
            <a:alphaModFix/>
          </a:blip>
          <a:stretch>
            <a:fillRect/>
          </a:stretch>
        </p:blipFill>
        <p:spPr>
          <a:xfrm>
            <a:off x="198025" y="3559150"/>
            <a:ext cx="4621778" cy="2690025"/>
          </a:xfrm>
          <a:prstGeom prst="rect">
            <a:avLst/>
          </a:prstGeom>
          <a:noFill/>
          <a:ln>
            <a:noFill/>
          </a:ln>
        </p:spPr>
      </p:pic>
      <p:sp>
        <p:nvSpPr>
          <p:cNvPr id="111" name="Google Shape;111;p11"/>
          <p:cNvSpPr txBox="1"/>
          <p:nvPr/>
        </p:nvSpPr>
        <p:spPr>
          <a:xfrm>
            <a:off x="323975" y="6314350"/>
            <a:ext cx="839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a:solidFill>
                  <a:schemeClr val="dk1"/>
                </a:solidFill>
                <a:latin typeface="Helvetica Neue"/>
                <a:ea typeface="Helvetica Neue"/>
                <a:cs typeface="Helvetica Neue"/>
                <a:sym typeface="Helvetica Neue"/>
              </a:rPr>
              <a:t>Fig. 7(a)</a:t>
            </a:r>
            <a:r>
              <a:rPr lang="en-IN">
                <a:solidFill>
                  <a:schemeClr val="dk1"/>
                </a:solidFill>
                <a:latin typeface="Helvetica Neue"/>
                <a:ea typeface="Helvetica Neue"/>
                <a:cs typeface="Helvetica Neue"/>
                <a:sym typeface="Helvetica Neue"/>
              </a:rPr>
              <a:t> </a:t>
            </a:r>
            <a:r>
              <a:rPr lang="en-IN">
                <a:solidFill>
                  <a:schemeClr val="dk1"/>
                </a:solidFill>
                <a:latin typeface="Helvetica Neue"/>
                <a:ea typeface="Helvetica Neue"/>
                <a:cs typeface="Helvetica Neue"/>
                <a:sym typeface="Helvetica Neue"/>
              </a:rPr>
              <a:t>- ERP Dashboard (HR View), Fig. 7(b) - Add Project Form, Fig. 7(c) - Add PR Request</a:t>
            </a:r>
            <a:endParaRPr>
              <a:solidFill>
                <a:schemeClr val="dk1"/>
              </a:solidFill>
              <a:latin typeface="Helvetica Neue"/>
              <a:ea typeface="Helvetica Neue"/>
              <a:cs typeface="Helvetica Neue"/>
              <a:sym typeface="Helvetica Neue"/>
            </a:endParaRPr>
          </a:p>
        </p:txBody>
      </p:sp>
      <p:sp>
        <p:nvSpPr>
          <p:cNvPr id="112" name="Google Shape;112;p11"/>
          <p:cNvSpPr txBox="1"/>
          <p:nvPr/>
        </p:nvSpPr>
        <p:spPr>
          <a:xfrm>
            <a:off x="1925713" y="3319350"/>
            <a:ext cx="116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IN">
                <a:solidFill>
                  <a:schemeClr val="dk1"/>
                </a:solidFill>
                <a:latin typeface="Helvetica Neue"/>
                <a:ea typeface="Helvetica Neue"/>
                <a:cs typeface="Helvetica Neue"/>
                <a:sym typeface="Helvetica Neue"/>
              </a:rPr>
              <a:t>7(a)</a:t>
            </a:r>
            <a:endParaRPr sz="1800">
              <a:solidFill>
                <a:schemeClr val="dk1"/>
              </a:solidFill>
              <a:latin typeface="Helvetica Neue"/>
              <a:ea typeface="Helvetica Neue"/>
              <a:cs typeface="Helvetica Neue"/>
              <a:sym typeface="Helvetica Neue"/>
            </a:endParaRPr>
          </a:p>
        </p:txBody>
      </p:sp>
      <p:sp>
        <p:nvSpPr>
          <p:cNvPr id="113" name="Google Shape;113;p11"/>
          <p:cNvSpPr txBox="1"/>
          <p:nvPr/>
        </p:nvSpPr>
        <p:spPr>
          <a:xfrm>
            <a:off x="1925713" y="5925175"/>
            <a:ext cx="116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a:solidFill>
                  <a:schemeClr val="dk1"/>
                </a:solidFill>
                <a:latin typeface="Helvetica Neue"/>
                <a:ea typeface="Helvetica Neue"/>
                <a:cs typeface="Helvetica Neue"/>
                <a:sym typeface="Helvetica Neue"/>
              </a:rPr>
              <a:t>7(c)</a:t>
            </a:r>
            <a:endParaRPr sz="1800">
              <a:solidFill>
                <a:schemeClr val="dk1"/>
              </a:solidFill>
              <a:latin typeface="Helvetica Neue"/>
              <a:ea typeface="Helvetica Neue"/>
              <a:cs typeface="Helvetica Neue"/>
              <a:sym typeface="Helvetica Neue"/>
            </a:endParaRPr>
          </a:p>
        </p:txBody>
      </p:sp>
      <p:sp>
        <p:nvSpPr>
          <p:cNvPr id="114" name="Google Shape;114;p11"/>
          <p:cNvSpPr txBox="1"/>
          <p:nvPr/>
        </p:nvSpPr>
        <p:spPr>
          <a:xfrm>
            <a:off x="6767150" y="5925175"/>
            <a:ext cx="116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a:solidFill>
                  <a:schemeClr val="dk1"/>
                </a:solidFill>
                <a:latin typeface="Helvetica Neue"/>
                <a:ea typeface="Helvetica Neue"/>
                <a:cs typeface="Helvetica Neue"/>
                <a:sym typeface="Helvetica Neue"/>
              </a:rPr>
              <a:t>7(b)</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2"/>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Implementation </a:t>
            </a:r>
            <a:r>
              <a:rPr b="0" lang="en-IN" sz="2400"/>
              <a:t>(cont…)</a:t>
            </a:r>
            <a:endParaRPr b="0"/>
          </a:p>
        </p:txBody>
      </p:sp>
      <p:sp>
        <p:nvSpPr>
          <p:cNvPr id="120" name="Google Shape;120;p12"/>
          <p:cNvSpPr txBox="1"/>
          <p:nvPr/>
        </p:nvSpPr>
        <p:spPr>
          <a:xfrm>
            <a:off x="77125" y="647950"/>
            <a:ext cx="8956800" cy="59511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21" name="Google Shape;121;p12" title="Screenshot 2025-03-19 at 2.51.30 AM.png"/>
          <p:cNvPicPr preferRelativeResize="0"/>
          <p:nvPr/>
        </p:nvPicPr>
        <p:blipFill>
          <a:blip r:embed="rId3">
            <a:alphaModFix/>
          </a:blip>
          <a:stretch>
            <a:fillRect/>
          </a:stretch>
        </p:blipFill>
        <p:spPr>
          <a:xfrm>
            <a:off x="380800" y="776875"/>
            <a:ext cx="3381224" cy="3134050"/>
          </a:xfrm>
          <a:prstGeom prst="rect">
            <a:avLst/>
          </a:prstGeom>
          <a:noFill/>
          <a:ln>
            <a:noFill/>
          </a:ln>
        </p:spPr>
      </p:pic>
      <p:sp>
        <p:nvSpPr>
          <p:cNvPr id="122" name="Google Shape;122;p12"/>
          <p:cNvSpPr txBox="1"/>
          <p:nvPr/>
        </p:nvSpPr>
        <p:spPr>
          <a:xfrm>
            <a:off x="1302500" y="3806300"/>
            <a:ext cx="116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a:solidFill>
                  <a:schemeClr val="dk1"/>
                </a:solidFill>
                <a:latin typeface="Helvetica Neue"/>
                <a:ea typeface="Helvetica Neue"/>
                <a:cs typeface="Helvetica Neue"/>
                <a:sym typeface="Helvetica Neue"/>
              </a:rPr>
              <a:t>8</a:t>
            </a:r>
            <a:r>
              <a:rPr lang="en-IN">
                <a:solidFill>
                  <a:schemeClr val="dk1"/>
                </a:solidFill>
                <a:latin typeface="Helvetica Neue"/>
                <a:ea typeface="Helvetica Neue"/>
                <a:cs typeface="Helvetica Neue"/>
                <a:sym typeface="Helvetica Neue"/>
              </a:rPr>
              <a:t>(a)</a:t>
            </a:r>
            <a:endParaRPr sz="1800">
              <a:solidFill>
                <a:schemeClr val="dk1"/>
              </a:solidFill>
              <a:latin typeface="Helvetica Neue"/>
              <a:ea typeface="Helvetica Neue"/>
              <a:cs typeface="Helvetica Neue"/>
              <a:sym typeface="Helvetica Neue"/>
            </a:endParaRPr>
          </a:p>
        </p:txBody>
      </p:sp>
      <p:pic>
        <p:nvPicPr>
          <p:cNvPr id="123" name="Google Shape;123;p12" title="Screenshot 2025-03-19 at 2.52.38 AM.png"/>
          <p:cNvPicPr preferRelativeResize="0"/>
          <p:nvPr/>
        </p:nvPicPr>
        <p:blipFill>
          <a:blip r:embed="rId4">
            <a:alphaModFix/>
          </a:blip>
          <a:stretch>
            <a:fillRect/>
          </a:stretch>
        </p:blipFill>
        <p:spPr>
          <a:xfrm>
            <a:off x="4586111" y="776863"/>
            <a:ext cx="3678590" cy="3029426"/>
          </a:xfrm>
          <a:prstGeom prst="rect">
            <a:avLst/>
          </a:prstGeom>
          <a:noFill/>
          <a:ln>
            <a:noFill/>
          </a:ln>
        </p:spPr>
      </p:pic>
      <p:sp>
        <p:nvSpPr>
          <p:cNvPr id="124" name="Google Shape;124;p12"/>
          <p:cNvSpPr txBox="1"/>
          <p:nvPr/>
        </p:nvSpPr>
        <p:spPr>
          <a:xfrm>
            <a:off x="6126400" y="3687650"/>
            <a:ext cx="116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a:solidFill>
                  <a:schemeClr val="dk1"/>
                </a:solidFill>
                <a:latin typeface="Helvetica Neue"/>
                <a:ea typeface="Helvetica Neue"/>
                <a:cs typeface="Helvetica Neue"/>
                <a:sym typeface="Helvetica Neue"/>
              </a:rPr>
              <a:t>8</a:t>
            </a:r>
            <a:r>
              <a:rPr lang="en-IN">
                <a:solidFill>
                  <a:schemeClr val="dk1"/>
                </a:solidFill>
                <a:latin typeface="Helvetica Neue"/>
                <a:ea typeface="Helvetica Neue"/>
                <a:cs typeface="Helvetica Neue"/>
                <a:sym typeface="Helvetica Neue"/>
              </a:rPr>
              <a:t>(b)</a:t>
            </a:r>
            <a:endParaRPr sz="1800">
              <a:solidFill>
                <a:schemeClr val="dk1"/>
              </a:solidFill>
              <a:latin typeface="Helvetica Neue"/>
              <a:ea typeface="Helvetica Neue"/>
              <a:cs typeface="Helvetica Neue"/>
              <a:sym typeface="Helvetica Neue"/>
            </a:endParaRPr>
          </a:p>
        </p:txBody>
      </p:sp>
      <p:pic>
        <p:nvPicPr>
          <p:cNvPr id="125" name="Google Shape;125;p12" title="Screenshot 2025-03-19 at 2.53.23 AM.png"/>
          <p:cNvPicPr preferRelativeResize="0"/>
          <p:nvPr/>
        </p:nvPicPr>
        <p:blipFill>
          <a:blip r:embed="rId5">
            <a:alphaModFix/>
          </a:blip>
          <a:stretch>
            <a:fillRect/>
          </a:stretch>
        </p:blipFill>
        <p:spPr>
          <a:xfrm>
            <a:off x="2577475" y="4039450"/>
            <a:ext cx="3255075" cy="2338373"/>
          </a:xfrm>
          <a:prstGeom prst="rect">
            <a:avLst/>
          </a:prstGeom>
          <a:noFill/>
          <a:ln>
            <a:noFill/>
          </a:ln>
        </p:spPr>
      </p:pic>
      <p:sp>
        <p:nvSpPr>
          <p:cNvPr id="126" name="Google Shape;126;p12"/>
          <p:cNvSpPr txBox="1"/>
          <p:nvPr/>
        </p:nvSpPr>
        <p:spPr>
          <a:xfrm>
            <a:off x="3621813" y="6301625"/>
            <a:ext cx="116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a:solidFill>
                  <a:schemeClr val="dk1"/>
                </a:solidFill>
                <a:latin typeface="Helvetica Neue"/>
                <a:ea typeface="Helvetica Neue"/>
                <a:cs typeface="Helvetica Neue"/>
                <a:sym typeface="Helvetica Neue"/>
              </a:rPr>
              <a:t>8(c)</a:t>
            </a:r>
            <a:endParaRPr sz="1800">
              <a:solidFill>
                <a:schemeClr val="dk1"/>
              </a:solidFill>
              <a:latin typeface="Helvetica Neue"/>
              <a:ea typeface="Helvetica Neue"/>
              <a:cs typeface="Helvetica Neue"/>
              <a:sym typeface="Helvetica Neue"/>
            </a:endParaRPr>
          </a:p>
        </p:txBody>
      </p:sp>
      <p:sp>
        <p:nvSpPr>
          <p:cNvPr id="127" name="Google Shape;127;p12"/>
          <p:cNvSpPr txBox="1"/>
          <p:nvPr/>
        </p:nvSpPr>
        <p:spPr>
          <a:xfrm>
            <a:off x="5832550" y="5767788"/>
            <a:ext cx="3255000" cy="831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IN">
                <a:solidFill>
                  <a:schemeClr val="dk1"/>
                </a:solidFill>
                <a:latin typeface="Helvetica Neue"/>
                <a:ea typeface="Helvetica Neue"/>
                <a:cs typeface="Helvetica Neue"/>
                <a:sym typeface="Helvetica Neue"/>
              </a:rPr>
              <a:t>Fig. 8(a) - Project Timeline View, </a:t>
            </a:r>
            <a:endParaRPr>
              <a:solidFill>
                <a:schemeClr val="dk1"/>
              </a:solidFill>
              <a:latin typeface="Helvetica Neue"/>
              <a:ea typeface="Helvetica Neue"/>
              <a:cs typeface="Helvetica Neue"/>
              <a:sym typeface="Helvetica Neue"/>
            </a:endParaRPr>
          </a:p>
          <a:p>
            <a:pPr indent="0" lvl="0" marL="0" rtl="0" algn="r">
              <a:spcBef>
                <a:spcPts val="0"/>
              </a:spcBef>
              <a:spcAft>
                <a:spcPts val="0"/>
              </a:spcAft>
              <a:buNone/>
            </a:pPr>
            <a:r>
              <a:rPr lang="en-IN">
                <a:solidFill>
                  <a:schemeClr val="dk1"/>
                </a:solidFill>
                <a:latin typeface="Helvetica Neue"/>
                <a:ea typeface="Helvetica Neue"/>
                <a:cs typeface="Helvetica Neue"/>
                <a:sym typeface="Helvetica Neue"/>
              </a:rPr>
              <a:t>Fig. 8(b) - Send Email, </a:t>
            </a:r>
            <a:endParaRPr>
              <a:solidFill>
                <a:schemeClr val="dk1"/>
              </a:solidFill>
              <a:latin typeface="Helvetica Neue"/>
              <a:ea typeface="Helvetica Neue"/>
              <a:cs typeface="Helvetica Neue"/>
              <a:sym typeface="Helvetica Neue"/>
            </a:endParaRPr>
          </a:p>
          <a:p>
            <a:pPr indent="0" lvl="0" marL="0" rtl="0" algn="r">
              <a:spcBef>
                <a:spcPts val="0"/>
              </a:spcBef>
              <a:spcAft>
                <a:spcPts val="0"/>
              </a:spcAft>
              <a:buNone/>
            </a:pPr>
            <a:r>
              <a:rPr lang="en-IN">
                <a:solidFill>
                  <a:schemeClr val="dk1"/>
                </a:solidFill>
                <a:latin typeface="Helvetica Neue"/>
                <a:ea typeface="Helvetica Neue"/>
                <a:cs typeface="Helvetica Neue"/>
                <a:sym typeface="Helvetica Neue"/>
              </a:rPr>
              <a:t>Fig. 8(c) - Resignation </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Experimental Results and Evaluation</a:t>
            </a:r>
            <a:endParaRPr/>
          </a:p>
        </p:txBody>
      </p:sp>
      <p:sp>
        <p:nvSpPr>
          <p:cNvPr id="133" name="Google Shape;133;p13"/>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IN" sz="1800">
                <a:solidFill>
                  <a:schemeClr val="dk1"/>
                </a:solidFill>
                <a:latin typeface="Helvetica Neue"/>
                <a:ea typeface="Helvetica Neue"/>
                <a:cs typeface="Helvetica Neue"/>
                <a:sym typeface="Helvetica Neue"/>
              </a:rPr>
              <a:t>The experimental results demonstrate significant improvements in ERP system efficiency, with optimized modules enhancing performance, user experience, and data integration.</a:t>
            </a:r>
            <a:endParaRPr sz="1800">
              <a:solidFill>
                <a:schemeClr val="dk1"/>
              </a:solidFill>
              <a:latin typeface="Helvetica Neue"/>
              <a:ea typeface="Helvetica Neue"/>
              <a:cs typeface="Helvetica Neue"/>
              <a:sym typeface="Helvetica Neue"/>
            </a:endParaRPr>
          </a:p>
          <a:p>
            <a:pPr indent="0" lvl="0" marL="457200" marR="0" rtl="0" algn="just">
              <a:lnSpc>
                <a:spcPct val="150000"/>
              </a:lnSpc>
              <a:spcBef>
                <a:spcPts val="120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Key Learnings</a:t>
            </a:r>
            <a:endParaRPr b="0"/>
          </a:p>
        </p:txBody>
      </p:sp>
      <p:sp>
        <p:nvSpPr>
          <p:cNvPr id="139" name="Google Shape;139;p17"/>
          <p:cNvSpPr txBox="1"/>
          <p:nvPr/>
        </p:nvSpPr>
        <p:spPr>
          <a:xfrm>
            <a:off x="-7" y="724556"/>
            <a:ext cx="8956800" cy="5794800"/>
          </a:xfrm>
          <a:prstGeom prst="rect">
            <a:avLst/>
          </a:prstGeom>
          <a:noFill/>
          <a:ln>
            <a:noFill/>
          </a:ln>
        </p:spPr>
        <p:txBody>
          <a:bodyPr anchorCtr="0" anchor="t" bIns="45700" lIns="91425" spcFirstLastPara="1" rIns="91425" wrap="square" tIns="45700">
            <a:noAutofit/>
          </a:bodyPr>
          <a:lstStyle/>
          <a:p>
            <a:pPr indent="-342900" lvl="0" marL="457200" rtl="0" algn="just">
              <a:lnSpc>
                <a:spcPct val="115000"/>
              </a:lnSpc>
              <a:spcBef>
                <a:spcPts val="0"/>
              </a:spcBef>
              <a:spcAft>
                <a:spcPts val="0"/>
              </a:spcAft>
              <a:buClr>
                <a:schemeClr val="dk1"/>
              </a:buClr>
              <a:buSzPts val="1800"/>
              <a:buFont typeface="Helvetica Neue"/>
              <a:buChar char="•"/>
            </a:pPr>
            <a:r>
              <a:rPr lang="en-IN" sz="1800" u="sng">
                <a:solidFill>
                  <a:schemeClr val="dk1"/>
                </a:solidFill>
                <a:latin typeface="Helvetica Neue"/>
                <a:ea typeface="Helvetica Neue"/>
                <a:cs typeface="Helvetica Neue"/>
                <a:sym typeface="Helvetica Neue"/>
              </a:rPr>
              <a:t>Workflow Automation &amp; Role-Based Access </a:t>
            </a:r>
            <a:r>
              <a:rPr lang="en-IN" sz="1800">
                <a:solidFill>
                  <a:schemeClr val="dk1"/>
                </a:solidFill>
                <a:latin typeface="Helvetica Neue"/>
                <a:ea typeface="Helvetica Neue"/>
                <a:cs typeface="Helvetica Neue"/>
                <a:sym typeface="Helvetica Neue"/>
              </a:rPr>
              <a:t>– Implemented a multi-step approval process for resignation requests, automated attendance tracking, and role-based access control for Employees, Managers, HR, and Admins. Ensured authorization and authentication mechanisms were in place, restricting sensitive operations to designated users.</a:t>
            </a:r>
            <a:endParaRPr sz="1800">
              <a:solidFill>
                <a:schemeClr val="dk1"/>
              </a:solidFill>
              <a:latin typeface="Helvetica Neue"/>
              <a:ea typeface="Helvetica Neue"/>
              <a:cs typeface="Helvetica Neue"/>
              <a:sym typeface="Helvetica Neue"/>
            </a:endParaRPr>
          </a:p>
          <a:p>
            <a:pPr indent="-342900" lvl="0" marL="457200" rtl="0" algn="just">
              <a:lnSpc>
                <a:spcPct val="115000"/>
              </a:lnSpc>
              <a:spcBef>
                <a:spcPts val="0"/>
              </a:spcBef>
              <a:spcAft>
                <a:spcPts val="0"/>
              </a:spcAft>
              <a:buClr>
                <a:schemeClr val="dk1"/>
              </a:buClr>
              <a:buSzPts val="1800"/>
              <a:buFont typeface="Helvetica Neue"/>
              <a:buChar char="•"/>
            </a:pPr>
            <a:r>
              <a:rPr lang="en-IN" sz="1800" u="sng">
                <a:solidFill>
                  <a:schemeClr val="dk1"/>
                </a:solidFill>
                <a:latin typeface="Helvetica Neue"/>
                <a:ea typeface="Helvetica Neue"/>
                <a:cs typeface="Helvetica Neue"/>
                <a:sym typeface="Helvetica Neue"/>
              </a:rPr>
              <a:t>Scalability &amp; Future Enhancements </a:t>
            </a:r>
            <a:r>
              <a:rPr lang="en-IN" sz="1800">
                <a:solidFill>
                  <a:schemeClr val="dk1"/>
                </a:solidFill>
                <a:latin typeface="Helvetica Neue"/>
                <a:ea typeface="Helvetica Neue"/>
                <a:cs typeface="Helvetica Neue"/>
                <a:sym typeface="Helvetica Neue"/>
              </a:rPr>
              <a:t>– Designed the system with scalability in mind, allowing for API integrations, additional automation features, and potential AI-driven enhancements in the future. Ensured that the architecture supports future expansion, making it adaptable to organizational growth and evolving business requirements.</a:t>
            </a:r>
            <a:endParaRPr sz="1800">
              <a:solidFill>
                <a:schemeClr val="dk1"/>
              </a:solidFill>
              <a:latin typeface="Helvetica Neue"/>
              <a:ea typeface="Helvetica Neue"/>
              <a:cs typeface="Helvetica Neue"/>
              <a:sym typeface="Helvetica Neue"/>
            </a:endParaRPr>
          </a:p>
          <a:p>
            <a:pPr indent="-342900" lvl="0" marL="457200" rtl="0" algn="just">
              <a:lnSpc>
                <a:spcPct val="115000"/>
              </a:lnSpc>
              <a:spcBef>
                <a:spcPts val="0"/>
              </a:spcBef>
              <a:spcAft>
                <a:spcPts val="0"/>
              </a:spcAft>
              <a:buClr>
                <a:schemeClr val="dk1"/>
              </a:buClr>
              <a:buSzPts val="1800"/>
              <a:buFont typeface="Helvetica Neue"/>
              <a:buChar char="•"/>
            </a:pPr>
            <a:r>
              <a:rPr lang="en-IN" sz="1800" u="sng">
                <a:solidFill>
                  <a:schemeClr val="dk1"/>
                </a:solidFill>
                <a:latin typeface="Helvetica Neue"/>
                <a:ea typeface="Helvetica Neue"/>
                <a:cs typeface="Helvetica Neue"/>
                <a:sym typeface="Helvetica Neue"/>
              </a:rPr>
              <a:t>System Architecture &amp; Security </a:t>
            </a:r>
            <a:r>
              <a:rPr lang="en-IN" sz="1800">
                <a:solidFill>
                  <a:schemeClr val="dk1"/>
                </a:solidFill>
                <a:latin typeface="Helvetica Neue"/>
                <a:ea typeface="Helvetica Neue"/>
                <a:cs typeface="Helvetica Neue"/>
                <a:sym typeface="Helvetica Neue"/>
              </a:rPr>
              <a:t>– Developed a layered architecture comprising the User Interface Layer, Application Layer, and Database Layer, ensuring modularity and scalability. Integrated secure authentication mechanisms, access control policies, and emails, enhancing system security and usability.</a:t>
            </a:r>
            <a:endParaRPr sz="1800">
              <a:solidFill>
                <a:schemeClr val="dk1"/>
              </a:solidFill>
              <a:latin typeface="Helvetica Neue"/>
              <a:ea typeface="Helvetica Neue"/>
              <a:cs typeface="Helvetica Neue"/>
              <a:sym typeface="Helvetica Neue"/>
            </a:endParaRPr>
          </a:p>
          <a:p>
            <a:pPr indent="-387350" lvl="0" marL="457200" rtl="0" algn="just">
              <a:lnSpc>
                <a:spcPct val="115000"/>
              </a:lnSpc>
              <a:spcBef>
                <a:spcPts val="0"/>
              </a:spcBef>
              <a:spcAft>
                <a:spcPts val="0"/>
              </a:spcAft>
              <a:buClr>
                <a:schemeClr val="dk1"/>
              </a:buClr>
              <a:buSzPts val="2500"/>
              <a:buFont typeface="Helvetica Neue"/>
              <a:buChar char="•"/>
            </a:pPr>
            <a:r>
              <a:rPr lang="en-IN" sz="1800" u="sng">
                <a:solidFill>
                  <a:schemeClr val="dk1"/>
                </a:solidFill>
              </a:rPr>
              <a:t>Database Design &amp; ER Modeling</a:t>
            </a:r>
            <a:r>
              <a:rPr lang="en-IN" sz="1800">
                <a:solidFill>
                  <a:schemeClr val="dk1"/>
                </a:solidFill>
              </a:rPr>
              <a:t> – Designed a well-structured Entity-Relationship (ER) model, ensuring proper one-to-many and many-to-many relationships between entities such as Employees, Attendance, Projects, Resignations, and Mail.</a:t>
            </a:r>
            <a:endParaRPr sz="2500">
              <a:solidFill>
                <a:schemeClr val="dk1"/>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38af4a3941_0_32"/>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IN" sz="2400"/>
              <a:t>Work Plan </a:t>
            </a:r>
            <a:r>
              <a:rPr b="0" lang="en-IN" sz="2400"/>
              <a:t>(till End-Term Evaluation)</a:t>
            </a:r>
            <a:endParaRPr b="0"/>
          </a:p>
        </p:txBody>
      </p:sp>
      <p:sp>
        <p:nvSpPr>
          <p:cNvPr id="145" name="Google Shape;145;g338af4a3941_0_32"/>
          <p:cNvSpPr txBox="1"/>
          <p:nvPr/>
        </p:nvSpPr>
        <p:spPr>
          <a:xfrm>
            <a:off x="-7" y="724556"/>
            <a:ext cx="8956800" cy="5794800"/>
          </a:xfrm>
          <a:prstGeom prst="rect">
            <a:avLst/>
          </a:prstGeom>
          <a:noFill/>
          <a:ln>
            <a:noFill/>
          </a:ln>
        </p:spPr>
        <p:txBody>
          <a:bodyPr anchorCtr="0" anchor="t" bIns="45700" lIns="91425" spcFirstLastPara="1" rIns="91425" wrap="square" tIns="45700">
            <a:noAutofit/>
          </a:bodyPr>
          <a:lstStyle/>
          <a:p>
            <a:pPr indent="-233362" lvl="0" marL="357187" marR="0" rtl="0" algn="just">
              <a:lnSpc>
                <a:spcPct val="115000"/>
              </a:lnSpc>
              <a:spcBef>
                <a:spcPts val="0"/>
              </a:spcBef>
              <a:spcAft>
                <a:spcPts val="0"/>
              </a:spcAft>
              <a:buClr>
                <a:schemeClr val="dk1"/>
              </a:buClr>
              <a:buSzPts val="1800"/>
              <a:buFont typeface="Arial"/>
              <a:buChar char="•"/>
            </a:pPr>
            <a:r>
              <a:rPr lang="en-IN" sz="1800" u="sng">
                <a:solidFill>
                  <a:schemeClr val="dk1"/>
                </a:solidFill>
                <a:latin typeface="Helvetica Neue"/>
                <a:ea typeface="Helvetica Neue"/>
                <a:cs typeface="Helvetica Neue"/>
                <a:sym typeface="Helvetica Neue"/>
              </a:rPr>
              <a:t>Optimization of Existing XLPlat Modules</a:t>
            </a:r>
            <a:r>
              <a:rPr lang="en-IN" sz="1800">
                <a:solidFill>
                  <a:schemeClr val="dk1"/>
                </a:solidFill>
                <a:latin typeface="Helvetica Neue"/>
                <a:ea typeface="Helvetica Neue"/>
                <a:cs typeface="Helvetica Neue"/>
                <a:sym typeface="Helvetica Neue"/>
              </a:rPr>
              <a:t>: The current XLPlat ERP system, built using TCL, needs to be optimized by migrating its existing modules to Django. This transition will improve performance, security, and maintainability while ensuring smoother data management. </a:t>
            </a:r>
            <a:endParaRPr sz="1800">
              <a:solidFill>
                <a:schemeClr val="dk1"/>
              </a:solidFill>
              <a:latin typeface="Helvetica Neue"/>
              <a:ea typeface="Helvetica Neue"/>
              <a:cs typeface="Helvetica Neue"/>
              <a:sym typeface="Helvetica Neue"/>
            </a:endParaRPr>
          </a:p>
          <a:p>
            <a:pPr indent="-233362" lvl="0" marL="357187" marR="0" rtl="0" algn="just">
              <a:lnSpc>
                <a:spcPct val="115000"/>
              </a:lnSpc>
              <a:spcBef>
                <a:spcPts val="0"/>
              </a:spcBef>
              <a:spcAft>
                <a:spcPts val="0"/>
              </a:spcAft>
              <a:buClr>
                <a:schemeClr val="dk1"/>
              </a:buClr>
              <a:buSzPts val="1800"/>
              <a:buFont typeface="Arial"/>
              <a:buChar char="•"/>
            </a:pPr>
            <a:r>
              <a:rPr lang="en-IN" sz="1800" u="sng">
                <a:solidFill>
                  <a:schemeClr val="dk1"/>
                </a:solidFill>
                <a:latin typeface="Helvetica Neue"/>
                <a:ea typeface="Helvetica Neue"/>
                <a:cs typeface="Helvetica Neue"/>
                <a:sym typeface="Helvetica Neue"/>
              </a:rPr>
              <a:t>Integration of Additional Modules (Finance &amp; BDM)</a:t>
            </a:r>
            <a:r>
              <a:rPr lang="en-IN" sz="1800">
                <a:solidFill>
                  <a:schemeClr val="dk1"/>
                </a:solidFill>
                <a:latin typeface="Helvetica Neue"/>
                <a:ea typeface="Helvetica Neue"/>
                <a:cs typeface="Helvetica Neue"/>
                <a:sym typeface="Helvetica Neue"/>
              </a:rPr>
              <a:t>: The Finance and Business Development Management (BDM) modules will be studied and integrated into the ERP system. These modules will enhance financial tracking, automate business operations, and provide better insights for decision-making. Using Django, the implementation will focus on seamless data flow, efficient reporting, and enhanced user accessibility.</a:t>
            </a:r>
            <a:endParaRPr sz="1800">
              <a:solidFill>
                <a:schemeClr val="dk1"/>
              </a:solidFill>
              <a:latin typeface="Helvetica Neue"/>
              <a:ea typeface="Helvetica Neue"/>
              <a:cs typeface="Helvetica Neue"/>
              <a:sym typeface="Helvetica Neue"/>
            </a:endParaRPr>
          </a:p>
          <a:p>
            <a:pPr indent="-233362" lvl="0" marL="357187" marR="0" rtl="0" algn="just">
              <a:lnSpc>
                <a:spcPct val="115000"/>
              </a:lnSpc>
              <a:spcBef>
                <a:spcPts val="0"/>
              </a:spcBef>
              <a:spcAft>
                <a:spcPts val="0"/>
              </a:spcAft>
              <a:buClr>
                <a:schemeClr val="dk1"/>
              </a:buClr>
              <a:buSzPts val="1800"/>
              <a:buFont typeface="Arial"/>
              <a:buChar char="•"/>
            </a:pPr>
            <a:r>
              <a:rPr lang="en-IN" sz="1800" u="sng">
                <a:solidFill>
                  <a:schemeClr val="dk1"/>
                </a:solidFill>
                <a:latin typeface="Helvetica Neue"/>
                <a:ea typeface="Helvetica Neue"/>
                <a:cs typeface="Helvetica Neue"/>
                <a:sym typeface="Helvetica Neue"/>
              </a:rPr>
              <a:t>Development of a New Resume Parser</a:t>
            </a:r>
            <a:r>
              <a:rPr lang="en-IN" sz="1800">
                <a:solidFill>
                  <a:schemeClr val="dk1"/>
                </a:solidFill>
                <a:latin typeface="Helvetica Neue"/>
                <a:ea typeface="Helvetica Neue"/>
                <a:cs typeface="Helvetica Neue"/>
                <a:sym typeface="Helvetica Neue"/>
              </a:rPr>
              <a:t>: A new resume parser will be developed to automate the extraction of relevant candidate details for recruitment. This will be done using claude ai’s api.The goal is to integrate it into the ERP system, making the hiring process faster and more accurate.</a:t>
            </a:r>
            <a:endParaRPr sz="1800">
              <a:solidFill>
                <a:schemeClr val="dk1"/>
              </a:solidFill>
              <a:latin typeface="Helvetica Neue"/>
              <a:ea typeface="Helvetica Neue"/>
              <a:cs typeface="Helvetica Neue"/>
              <a:sym typeface="Helvetica Neue"/>
            </a:endParaRPr>
          </a:p>
          <a:p>
            <a:pPr indent="-233362" lvl="0" marL="357187" marR="0" rtl="0" algn="just">
              <a:lnSpc>
                <a:spcPct val="115000"/>
              </a:lnSpc>
              <a:spcBef>
                <a:spcPts val="0"/>
              </a:spcBef>
              <a:spcAft>
                <a:spcPts val="0"/>
              </a:spcAft>
              <a:buClr>
                <a:schemeClr val="dk1"/>
              </a:buClr>
              <a:buSzPts val="1800"/>
              <a:buFont typeface="Arial"/>
              <a:buChar char="•"/>
            </a:pPr>
            <a:r>
              <a:rPr lang="en-IN" sz="1800" u="sng">
                <a:solidFill>
                  <a:schemeClr val="dk1"/>
                </a:solidFill>
                <a:latin typeface="Helvetica Neue"/>
                <a:ea typeface="Helvetica Neue"/>
                <a:cs typeface="Helvetica Neue"/>
                <a:sym typeface="Helvetica Neue"/>
              </a:rPr>
              <a:t>Completion of the Reimbursement Module</a:t>
            </a:r>
            <a:r>
              <a:rPr lang="en-IN" sz="1800">
                <a:solidFill>
                  <a:schemeClr val="dk1"/>
                </a:solidFill>
                <a:latin typeface="Helvetica Neue"/>
                <a:ea typeface="Helvetica Neue"/>
                <a:cs typeface="Helvetica Neue"/>
                <a:sym typeface="Helvetica Neue"/>
              </a:rPr>
              <a:t>: The reimbursement module, which is in progress, aims to digitize and streamline expense claim submissions. Employees will be able to submit claims, attach documents, and track approvals within the ERP system.</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8"/>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200"/>
              <a:t>Work Contribution and Other Details</a:t>
            </a:r>
            <a:endParaRPr b="0" sz="1600"/>
          </a:p>
        </p:txBody>
      </p:sp>
      <p:sp>
        <p:nvSpPr>
          <p:cNvPr id="151" name="Google Shape;151;p18"/>
          <p:cNvSpPr txBox="1"/>
          <p:nvPr/>
        </p:nvSpPr>
        <p:spPr>
          <a:xfrm>
            <a:off x="40643" y="724556"/>
            <a:ext cx="8956800" cy="51723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52" name="Google Shape;152;p18"/>
          <p:cNvGraphicFramePr/>
          <p:nvPr/>
        </p:nvGraphicFramePr>
        <p:xfrm>
          <a:off x="93642" y="724550"/>
          <a:ext cx="3000000" cy="3000000"/>
        </p:xfrm>
        <a:graphic>
          <a:graphicData uri="http://schemas.openxmlformats.org/drawingml/2006/table">
            <a:tbl>
              <a:tblPr bandRow="1" firstRow="1">
                <a:noFill/>
                <a:tableStyleId>{6A48C8EA-4310-4F69-B452-EDC874184903}</a:tableStyleId>
              </a:tblPr>
              <a:tblGrid>
                <a:gridCol w="751450"/>
                <a:gridCol w="189125"/>
                <a:gridCol w="922375"/>
                <a:gridCol w="336925"/>
                <a:gridCol w="1993875"/>
                <a:gridCol w="1322650"/>
                <a:gridCol w="1522375"/>
                <a:gridCol w="1917925"/>
              </a:tblGrid>
              <a:tr h="622400">
                <a:tc gridSpan="2">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Roll No.</a:t>
                      </a:r>
                      <a:endParaRPr/>
                    </a:p>
                  </a:txBody>
                  <a:tcPr marT="45725" marB="45725" marR="91450" marL="91450">
                    <a:solidFill>
                      <a:srgbClr val="D5D59B"/>
                    </a:solidFill>
                  </a:tcPr>
                </a:tc>
                <a:tc hMerge="1"/>
                <a:tc gridSpan="2">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Start Date</a:t>
                      </a:r>
                      <a:endParaRPr/>
                    </a:p>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(dd/mm/2025)</a:t>
                      </a:r>
                      <a:endParaRPr/>
                    </a:p>
                  </a:txBody>
                  <a:tcPr marT="45725" marB="45725" marR="91450" marL="91450">
                    <a:solidFill>
                      <a:srgbClr val="D5D59B"/>
                    </a:solidFill>
                  </a:tcPr>
                </a:tc>
                <a:tc hMerge="1"/>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Organization &amp; </a:t>
                      </a:r>
                      <a:endParaRPr/>
                    </a:p>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Location</a:t>
                      </a:r>
                      <a:endParaRPr sz="1800" u="none" cap="none" strike="noStrike"/>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Work Mode</a:t>
                      </a:r>
                      <a:endParaRPr/>
                    </a:p>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(Online/Offline)</a:t>
                      </a:r>
                      <a:endParaRPr sz="1800" u="none" cap="none" strike="noStrike"/>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Work Nature</a:t>
                      </a:r>
                      <a:br>
                        <a:rPr b="0" i="0" lang="en-IN" sz="1300" u="none" cap="none" strike="noStrike">
                          <a:solidFill>
                            <a:schemeClr val="dk1"/>
                          </a:solidFill>
                          <a:latin typeface="Helvetica Neue"/>
                          <a:ea typeface="Helvetica Neue"/>
                          <a:cs typeface="Helvetica Neue"/>
                          <a:sym typeface="Helvetica Neue"/>
                        </a:rPr>
                      </a:br>
                      <a:r>
                        <a:rPr b="0" i="0" lang="en-IN" sz="1300" u="none" cap="none" strike="noStrike">
                          <a:solidFill>
                            <a:schemeClr val="dk1"/>
                          </a:solidFill>
                          <a:latin typeface="Helvetica Neue"/>
                          <a:ea typeface="Helvetica Neue"/>
                          <a:cs typeface="Helvetica Neue"/>
                          <a:sym typeface="Helvetica Neue"/>
                        </a:rPr>
                        <a:t>(Tech./Non-Tech.)</a:t>
                      </a:r>
                      <a:endParaRPr sz="1800" u="none" cap="none" strike="noStrike"/>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Work Domain</a:t>
                      </a:r>
                      <a:endParaRPr/>
                    </a:p>
                  </a:txBody>
                  <a:tcPr marT="45725" marB="45725" marR="91450" marL="91450">
                    <a:solidFill>
                      <a:srgbClr val="D5D59B"/>
                    </a:solidFill>
                  </a:tcPr>
                </a:tc>
              </a:tr>
              <a:tr h="614050">
                <a:tc gridSpan="2">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211392</a:t>
                      </a:r>
                      <a:endParaRPr i="0" sz="1300" u="none" cap="none" strike="noStrike">
                        <a:solidFill>
                          <a:schemeClr val="dk1"/>
                        </a:solidFill>
                        <a:latin typeface="Helvetica Neue"/>
                        <a:ea typeface="Helvetica Neue"/>
                        <a:cs typeface="Helvetica Neue"/>
                        <a:sym typeface="Helvetica Neue"/>
                      </a:endParaRPr>
                    </a:p>
                  </a:txBody>
                  <a:tcPr marT="45725" marB="45725" marR="91450" marL="91450">
                    <a:solidFill>
                      <a:srgbClr val="F4F9ED"/>
                    </a:solidFill>
                  </a:tcPr>
                </a:tc>
                <a:tc hMerge="1"/>
                <a:tc gridSpan="2">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20/01/2025</a:t>
                      </a:r>
                      <a:endParaRPr i="0" sz="1300" u="none" cap="none" strike="noStrike">
                        <a:solidFill>
                          <a:schemeClr val="dk1"/>
                        </a:solidFill>
                        <a:latin typeface="Helvetica Neue"/>
                        <a:ea typeface="Helvetica Neue"/>
                        <a:cs typeface="Helvetica Neue"/>
                        <a:sym typeface="Helvetica Neue"/>
                      </a:endParaRPr>
                    </a:p>
                  </a:txBody>
                  <a:tcPr marT="45725" marB="45725" marR="91450" marL="91450">
                    <a:solidFill>
                      <a:srgbClr val="F4F9ED"/>
                    </a:solidFill>
                  </a:tcPr>
                </a:tc>
                <a:tc hMerge="1"/>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TT Consultants, Mohali</a:t>
                      </a:r>
                      <a:endParaRPr sz="1300">
                        <a:solidFill>
                          <a:schemeClr val="dk1"/>
                        </a:solidFill>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Offline</a:t>
                      </a:r>
                      <a:endParaRPr sz="1300">
                        <a:solidFill>
                          <a:schemeClr val="dk1"/>
                        </a:solidFill>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Tech</a:t>
                      </a:r>
                      <a:endParaRPr sz="1300">
                        <a:solidFill>
                          <a:schemeClr val="dk1"/>
                        </a:solidFill>
                        <a:latin typeface="Helvetica Neue"/>
                        <a:ea typeface="Helvetica Neue"/>
                        <a:cs typeface="Helvetica Neue"/>
                        <a:sym typeface="Helvetica Neue"/>
                      </a:endParaRPr>
                    </a:p>
                  </a:txBody>
                  <a:tcPr marT="45725" marB="45725" marR="91450" marL="91450">
                    <a:solidFill>
                      <a:srgbClr val="F4F9ED"/>
                    </a:solidFill>
                  </a:tcPr>
                </a:tc>
                <a:tc>
                  <a:txBody>
                    <a:bodyPr/>
                    <a:lstStyle/>
                    <a:p>
                      <a:pPr indent="-88900" lvl="0" marL="17145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Software Product Development</a:t>
                      </a:r>
                      <a:endParaRPr i="0" sz="1300">
                        <a:solidFill>
                          <a:schemeClr val="dk1"/>
                        </a:solidFill>
                        <a:latin typeface="Helvetica Neue"/>
                        <a:ea typeface="Helvetica Neue"/>
                        <a:cs typeface="Helvetica Neue"/>
                        <a:sym typeface="Helvetica Neue"/>
                      </a:endParaRPr>
                    </a:p>
                  </a:txBody>
                  <a:tcPr marT="45725" marB="45725" marR="91450" marL="91450">
                    <a:solidFill>
                      <a:srgbClr val="F4F9ED"/>
                    </a:solidFill>
                  </a:tcPr>
                </a:tc>
              </a:tr>
              <a:tr h="359450">
                <a:tc gridSpan="8">
                  <a:txBody>
                    <a:bodyPr/>
                    <a:lstStyle/>
                    <a:p>
                      <a:pPr indent="0" lvl="0" marL="0" marR="0" rtl="0" algn="l">
                        <a:lnSpc>
                          <a:spcPct val="150000"/>
                        </a:lnSpc>
                        <a:spcBef>
                          <a:spcPts val="0"/>
                        </a:spcBef>
                        <a:spcAft>
                          <a:spcPts val="0"/>
                        </a:spcAft>
                        <a:buNone/>
                      </a:pPr>
                      <a:r>
                        <a:rPr b="1" i="0" lang="en-IN" sz="1300">
                          <a:latin typeface="Helvetica Neue"/>
                          <a:ea typeface="Helvetica Neue"/>
                          <a:cs typeface="Helvetica Neue"/>
                          <a:sym typeface="Helvetica Neue"/>
                        </a:rPr>
                        <a:t>GitHub Repository URL: https://github.com/aryam643/ERP_Training.git</a:t>
                      </a:r>
                      <a:endParaRPr/>
                    </a:p>
                  </a:txBody>
                  <a:tcPr marT="45725" marB="45725" marR="91450" marL="91450" anchor="ctr">
                    <a:solidFill>
                      <a:srgbClr val="D5D59B"/>
                    </a:solidFill>
                  </a:tcPr>
                </a:tc>
                <a:tc hMerge="1"/>
                <a:tc hMerge="1"/>
                <a:tc hMerge="1"/>
                <a:tc hMerge="1"/>
                <a:tc hMerge="1"/>
                <a:tc hMerge="1"/>
                <a:tc hMerge="1"/>
              </a:tr>
              <a:tr h="336950">
                <a:tc gridSpan="8">
                  <a:txBody>
                    <a:bodyPr/>
                    <a:lstStyle/>
                    <a:p>
                      <a:pPr indent="0" lvl="0" marL="0" marR="0" rtl="0" algn="ctr">
                        <a:lnSpc>
                          <a:spcPct val="153846"/>
                        </a:lnSpc>
                        <a:spcBef>
                          <a:spcPts val="0"/>
                        </a:spcBef>
                        <a:spcAft>
                          <a:spcPts val="0"/>
                        </a:spcAft>
                        <a:buNone/>
                      </a:pPr>
                      <a:r>
                        <a:rPr b="0" i="0" lang="en-IN" sz="1300">
                          <a:latin typeface="Helvetica Neue"/>
                          <a:ea typeface="Helvetica Neue"/>
                          <a:cs typeface="Helvetica Neue"/>
                          <a:sym typeface="Helvetica Neue"/>
                        </a:rPr>
                        <a:t>Work </a:t>
                      </a:r>
                      <a:r>
                        <a:rPr lang="en-IN" sz="1300">
                          <a:latin typeface="Helvetica Neue"/>
                          <a:ea typeface="Helvetica Neue"/>
                          <a:cs typeface="Helvetica Neue"/>
                          <a:sym typeface="Helvetica Neue"/>
                        </a:rPr>
                        <a:t>Contribution</a:t>
                      </a:r>
                      <a:endParaRPr/>
                    </a:p>
                  </a:txBody>
                  <a:tcPr marT="45725" marB="45725" marR="91450" marL="91450">
                    <a:solidFill>
                      <a:srgbClr val="D5D59B"/>
                    </a:solidFill>
                  </a:tcPr>
                </a:tc>
                <a:tc hMerge="1"/>
                <a:tc hMerge="1"/>
                <a:tc hMerge="1"/>
                <a:tc hMerge="1"/>
                <a:tc hMerge="1"/>
                <a:tc hMerge="1"/>
                <a:tc hMerge="1"/>
              </a:tr>
              <a:tr h="751450">
                <a:tc>
                  <a:txBody>
                    <a:bodyPr/>
                    <a:lstStyle/>
                    <a:p>
                      <a:pPr indent="0" lvl="0" marL="0" marR="0" rtl="0" algn="ctr">
                        <a:spcBef>
                          <a:spcPts val="0"/>
                        </a:spcBef>
                        <a:spcAft>
                          <a:spcPts val="0"/>
                        </a:spcAft>
                        <a:buNone/>
                      </a:pPr>
                      <a:r>
                        <a:rPr b="0" i="0" lang="en-IN" sz="1300">
                          <a:latin typeface="Helvetica Neue"/>
                          <a:ea typeface="Helvetica Neue"/>
                          <a:cs typeface="Helvetica Neue"/>
                          <a:sym typeface="Helvetica Neue"/>
                        </a:rPr>
                        <a:t>Week 1</a:t>
                      </a:r>
                      <a:endParaRPr/>
                    </a:p>
                  </a:txBody>
                  <a:tcPr marT="45725" marB="45725" marR="91450" marL="91450" anchor="ctr">
                    <a:solidFill>
                      <a:srgbClr val="F4F9ED"/>
                    </a:solidFill>
                  </a:tcPr>
                </a:tc>
                <a:tc gridSpan="2">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20</a:t>
                      </a:r>
                      <a:r>
                        <a:rPr b="0" i="0" lang="en-IN" sz="1300">
                          <a:latin typeface="Helvetica Neue"/>
                          <a:ea typeface="Helvetica Neue"/>
                          <a:cs typeface="Helvetica Neue"/>
                          <a:sym typeface="Helvetica Neue"/>
                        </a:rPr>
                        <a:t>/</a:t>
                      </a:r>
                      <a:r>
                        <a:rPr lang="en-IN" sz="1300">
                          <a:latin typeface="Helvetica Neue"/>
                          <a:ea typeface="Helvetica Neue"/>
                          <a:cs typeface="Helvetica Neue"/>
                          <a:sym typeface="Helvetica Neue"/>
                        </a:rPr>
                        <a:t>01</a:t>
                      </a:r>
                      <a:r>
                        <a:rPr b="0" i="0" lang="en-IN" sz="1300">
                          <a:latin typeface="Helvetica Neue"/>
                          <a:ea typeface="Helvetica Neue"/>
                          <a:cs typeface="Helvetica Neue"/>
                          <a:sym typeface="Helvetica Neue"/>
                        </a:rPr>
                        <a:t>/2025</a:t>
                      </a:r>
                      <a:endParaRPr/>
                    </a:p>
                    <a:p>
                      <a:pPr indent="0" lvl="0" marL="0" marR="0" rtl="0" algn="ctr">
                        <a:spcBef>
                          <a:spcPts val="0"/>
                        </a:spcBef>
                        <a:spcAft>
                          <a:spcPts val="0"/>
                        </a:spcAft>
                        <a:buNone/>
                      </a:pPr>
                      <a:r>
                        <a:rPr b="0" i="0" lang="en-IN" sz="1300">
                          <a:latin typeface="Helvetica Neue"/>
                          <a:ea typeface="Helvetica Neue"/>
                          <a:cs typeface="Helvetica Neue"/>
                          <a:sym typeface="Helvetica Neue"/>
                        </a:rPr>
                        <a:t>to</a:t>
                      </a:r>
                      <a:endParaRPr/>
                    </a:p>
                    <a:p>
                      <a:pPr indent="0" lvl="0" marL="0" marR="0" rtl="0" algn="ctr">
                        <a:spcBef>
                          <a:spcPts val="0"/>
                        </a:spcBef>
                        <a:spcAft>
                          <a:spcPts val="0"/>
                        </a:spcAft>
                        <a:buNone/>
                      </a:pPr>
                      <a:r>
                        <a:rPr lang="en-IN" sz="1300">
                          <a:latin typeface="Helvetica Neue"/>
                          <a:ea typeface="Helvetica Neue"/>
                          <a:cs typeface="Helvetica Neue"/>
                          <a:sym typeface="Helvetica Neue"/>
                        </a:rPr>
                        <a:t>24</a:t>
                      </a:r>
                      <a:r>
                        <a:rPr b="0" i="0" lang="en-IN" sz="1300">
                          <a:latin typeface="Helvetica Neue"/>
                          <a:ea typeface="Helvetica Neue"/>
                          <a:cs typeface="Helvetica Neue"/>
                          <a:sym typeface="Helvetica Neue"/>
                        </a:rPr>
                        <a:t>/</a:t>
                      </a:r>
                      <a:r>
                        <a:rPr lang="en-IN" sz="1300">
                          <a:latin typeface="Helvetica Neue"/>
                          <a:ea typeface="Helvetica Neue"/>
                          <a:cs typeface="Helvetica Neue"/>
                          <a:sym typeface="Helvetica Neue"/>
                        </a:rPr>
                        <a:t>01</a:t>
                      </a:r>
                      <a:r>
                        <a:rPr b="0" i="0" lang="en-IN" sz="1300">
                          <a:latin typeface="Helvetica Neue"/>
                          <a:ea typeface="Helvetica Neue"/>
                          <a:cs typeface="Helvetica Neue"/>
                          <a:sym typeface="Helvetica Neue"/>
                        </a:rPr>
                        <a:t>/2025</a:t>
                      </a:r>
                      <a:endParaRPr/>
                    </a:p>
                  </a:txBody>
                  <a:tcPr marT="45725" marB="45725" marR="91450" marL="91450" anchor="ctr">
                    <a:solidFill>
                      <a:srgbClr val="F4F9ED"/>
                    </a:solidFill>
                  </a:tcPr>
                </a:tc>
                <a:tc hMerge="1"/>
                <a:tc gridSpan="5">
                  <a:txBody>
                    <a:bodyPr/>
                    <a:lstStyle/>
                    <a:p>
                      <a:pPr indent="-285750" lvl="0" marL="285750" rtl="0" algn="just">
                        <a:spcBef>
                          <a:spcPts val="0"/>
                        </a:spcBef>
                        <a:spcAft>
                          <a:spcPts val="0"/>
                        </a:spcAft>
                        <a:buClr>
                          <a:schemeClr val="dk1"/>
                        </a:buClr>
                        <a:buSzPts val="1300"/>
                        <a:buChar char="•"/>
                      </a:pPr>
                      <a:r>
                        <a:rPr lang="en-IN" sz="1100">
                          <a:latin typeface="Arial"/>
                          <a:ea typeface="Arial"/>
                          <a:cs typeface="Arial"/>
                          <a:sym typeface="Arial"/>
                        </a:rPr>
                        <a:t>Getting Started with Tailwind CSS – Began exploring Tailwind CSS, understanding its utility-first approach and how it simplifies styling compared to traditional CSS frameworks.</a:t>
                      </a:r>
                      <a:endParaRPr sz="1100">
                        <a:latin typeface="Arial"/>
                        <a:ea typeface="Arial"/>
                        <a:cs typeface="Arial"/>
                        <a:sym typeface="Arial"/>
                      </a:endParaRPr>
                    </a:p>
                    <a:p>
                      <a:pPr indent="-285750" lvl="0" marL="285750" rtl="0" algn="just">
                        <a:spcBef>
                          <a:spcPts val="0"/>
                        </a:spcBef>
                        <a:spcAft>
                          <a:spcPts val="0"/>
                        </a:spcAft>
                        <a:buClr>
                          <a:schemeClr val="dk1"/>
                        </a:buClr>
                        <a:buSzPts val="1300"/>
                        <a:buChar char="•"/>
                      </a:pPr>
                      <a:r>
                        <a:rPr lang="en-IN" sz="1100">
                          <a:latin typeface="Arial"/>
                          <a:ea typeface="Arial"/>
                          <a:cs typeface="Arial"/>
                          <a:sym typeface="Arial"/>
                        </a:rPr>
                        <a:t>Hands-on Practice with Tailwind – Built a small project using React and Tailwind CSS, practicing component-based styling without external CSS files.</a:t>
                      </a:r>
                      <a:endParaRPr sz="1100">
                        <a:latin typeface="Arial"/>
                        <a:ea typeface="Arial"/>
                        <a:cs typeface="Arial"/>
                        <a:sym typeface="Arial"/>
                      </a:endParaRPr>
                    </a:p>
                  </a:txBody>
                  <a:tcPr marT="45725" marB="45725" marR="91450" marL="91450" anchor="ctr">
                    <a:solidFill>
                      <a:srgbClr val="F4F9ED"/>
                    </a:solidFill>
                  </a:tcPr>
                </a:tc>
                <a:tc hMerge="1"/>
                <a:tc hMerge="1"/>
                <a:tc hMerge="1"/>
                <a:tc hMerge="1"/>
              </a:tr>
              <a:tr h="882750">
                <a:tc>
                  <a:txBody>
                    <a:bodyPr/>
                    <a:lstStyle/>
                    <a:p>
                      <a:pPr indent="0" lvl="0" marL="0" marR="0" rtl="0" algn="ctr">
                        <a:spcBef>
                          <a:spcPts val="0"/>
                        </a:spcBef>
                        <a:spcAft>
                          <a:spcPts val="0"/>
                        </a:spcAft>
                        <a:buNone/>
                      </a:pPr>
                      <a:r>
                        <a:rPr b="0" i="0" lang="en-IN" sz="1300">
                          <a:latin typeface="Helvetica Neue"/>
                          <a:ea typeface="Helvetica Neue"/>
                          <a:cs typeface="Helvetica Neue"/>
                          <a:sym typeface="Helvetica Neue"/>
                        </a:rPr>
                        <a:t>Week 2</a:t>
                      </a:r>
                      <a:endParaRPr/>
                    </a:p>
                  </a:txBody>
                  <a:tcPr marT="45725" marB="45725" marR="91450" marL="91450" anchor="ctr">
                    <a:solidFill>
                      <a:srgbClr val="F0F0DD"/>
                    </a:solidFill>
                  </a:tcPr>
                </a:tc>
                <a:tc gridSpan="2">
                  <a:txBody>
                    <a:bodyPr/>
                    <a:lstStyle/>
                    <a:p>
                      <a:pPr indent="0" lvl="0" marL="0" marR="0" rtl="0" algn="ctr">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27</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01</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ctr">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31/01</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ctr">
                        <a:spcBef>
                          <a:spcPts val="0"/>
                        </a:spcBef>
                        <a:spcAft>
                          <a:spcPts val="0"/>
                        </a:spcAft>
                        <a:buNone/>
                      </a:pPr>
                      <a:r>
                        <a:t/>
                      </a:r>
                      <a:endParaRPr b="0" i="0" sz="1300">
                        <a:latin typeface="Helvetica Neue"/>
                        <a:ea typeface="Helvetica Neue"/>
                        <a:cs typeface="Helvetica Neue"/>
                        <a:sym typeface="Helvetica Neue"/>
                      </a:endParaRPr>
                    </a:p>
                  </a:txBody>
                  <a:tcPr marT="45725" marB="45725" marR="91450" marL="91450" anchor="ctr">
                    <a:solidFill>
                      <a:srgbClr val="F0F0DD"/>
                    </a:solidFill>
                  </a:tcPr>
                </a:tc>
                <a:tc hMerge="1"/>
                <a:tc gridSpan="5">
                  <a:txBody>
                    <a:bodyPr/>
                    <a:lstStyle/>
                    <a:p>
                      <a:pPr indent="-285750" lvl="0" marL="285750" marR="0" rtl="0" algn="just">
                        <a:spcBef>
                          <a:spcPts val="0"/>
                        </a:spcBef>
                        <a:spcAft>
                          <a:spcPts val="0"/>
                        </a:spcAft>
                        <a:buClr>
                          <a:schemeClr val="dk1"/>
                        </a:buClr>
                        <a:buSzPts val="1300"/>
                        <a:buFont typeface="Arial"/>
                        <a:buChar char="•"/>
                      </a:pPr>
                      <a:r>
                        <a:rPr lang="en-IN" sz="1100">
                          <a:latin typeface="Arial"/>
                          <a:ea typeface="Arial"/>
                          <a:cs typeface="Arial"/>
                          <a:sym typeface="Arial"/>
                        </a:rPr>
                        <a:t>Diving into Django Basics – Studied the Django framework, learning about its file structure (</a:t>
                      </a:r>
                      <a:r>
                        <a:rPr lang="en-IN" sz="1100">
                          <a:latin typeface="Roboto Mono"/>
                          <a:ea typeface="Roboto Mono"/>
                          <a:cs typeface="Roboto Mono"/>
                          <a:sym typeface="Roboto Mono"/>
                        </a:rPr>
                        <a:t>models.py</a:t>
                      </a:r>
                      <a:r>
                        <a:rPr lang="en-IN" sz="1100">
                          <a:latin typeface="Arial"/>
                          <a:ea typeface="Arial"/>
                          <a:cs typeface="Arial"/>
                          <a:sym typeface="Arial"/>
                        </a:rPr>
                        <a:t>, </a:t>
                      </a:r>
                      <a:r>
                        <a:rPr lang="en-IN" sz="1100">
                          <a:latin typeface="Roboto Mono"/>
                          <a:ea typeface="Roboto Mono"/>
                          <a:cs typeface="Roboto Mono"/>
                          <a:sym typeface="Roboto Mono"/>
                        </a:rPr>
                        <a:t>views.py</a:t>
                      </a:r>
                      <a:r>
                        <a:rPr lang="en-IN" sz="1100">
                          <a:latin typeface="Arial"/>
                          <a:ea typeface="Arial"/>
                          <a:cs typeface="Arial"/>
                          <a:sym typeface="Arial"/>
                        </a:rPr>
                        <a:t>, </a:t>
                      </a:r>
                      <a:r>
                        <a:rPr lang="en-IN" sz="1100">
                          <a:latin typeface="Roboto Mono"/>
                          <a:ea typeface="Roboto Mono"/>
                          <a:cs typeface="Roboto Mono"/>
                          <a:sym typeface="Roboto Mono"/>
                        </a:rPr>
                        <a:t>urls.py</a:t>
                      </a:r>
                      <a:r>
                        <a:rPr lang="en-IN" sz="1100">
                          <a:latin typeface="Arial"/>
                          <a:ea typeface="Arial"/>
                          <a:cs typeface="Arial"/>
                          <a:sym typeface="Arial"/>
                        </a:rPr>
                        <a:t>, </a:t>
                      </a:r>
                      <a:r>
                        <a:rPr lang="en-IN" sz="1100">
                          <a:latin typeface="Roboto Mono"/>
                          <a:ea typeface="Roboto Mono"/>
                          <a:cs typeface="Roboto Mono"/>
                          <a:sym typeface="Roboto Mono"/>
                        </a:rPr>
                        <a:t>settings.py</a:t>
                      </a:r>
                      <a:r>
                        <a:rPr lang="en-IN" sz="1100">
                          <a:latin typeface="Arial"/>
                          <a:ea typeface="Arial"/>
                          <a:cs typeface="Arial"/>
                          <a:sym typeface="Arial"/>
                        </a:rPr>
                        <a:t>) and core functionalities.</a:t>
                      </a:r>
                      <a:endParaRPr sz="1100">
                        <a:latin typeface="Arial"/>
                        <a:ea typeface="Arial"/>
                        <a:cs typeface="Arial"/>
                        <a:sym typeface="Arial"/>
                      </a:endParaRPr>
                    </a:p>
                    <a:p>
                      <a:pPr indent="-285750" lvl="0" marL="285750" marR="0" rtl="0" algn="just">
                        <a:spcBef>
                          <a:spcPts val="0"/>
                        </a:spcBef>
                        <a:spcAft>
                          <a:spcPts val="0"/>
                        </a:spcAft>
                        <a:buClr>
                          <a:schemeClr val="dk1"/>
                        </a:buClr>
                        <a:buSzPts val="1300"/>
                        <a:buFont typeface="Arial"/>
                        <a:buChar char="•"/>
                      </a:pPr>
                      <a:r>
                        <a:rPr lang="en-IN" sz="1100">
                          <a:latin typeface="Arial"/>
                          <a:ea typeface="Arial"/>
                          <a:cs typeface="Arial"/>
                          <a:sym typeface="Arial"/>
                        </a:rPr>
                        <a:t>CRUD Operations in Django – Created a project to implement Create, Read, Update, and Delete (CRUD) operations, working with migrations and database handling.</a:t>
                      </a:r>
                      <a:endParaRPr/>
                    </a:p>
                  </a:txBody>
                  <a:tcPr marT="45725" marB="45725" marR="91450" marL="91450" anchor="ctr">
                    <a:solidFill>
                      <a:srgbClr val="F0F0DD"/>
                    </a:solidFill>
                  </a:tcPr>
                </a:tc>
                <a:tc hMerge="1"/>
                <a:tc hMerge="1"/>
                <a:tc hMerge="1"/>
                <a:tc hMerge="1"/>
              </a:tr>
              <a:tr h="751450">
                <a:tc>
                  <a:txBody>
                    <a:bodyPr/>
                    <a:lstStyle/>
                    <a:p>
                      <a:pPr indent="0" lvl="0" marL="0" marR="0" rtl="0" algn="ctr">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Week 3</a:t>
                      </a:r>
                      <a:endParaRPr/>
                    </a:p>
                  </a:txBody>
                  <a:tcPr marT="45725" marB="45725" marR="91450" marL="91450" anchor="ctr">
                    <a:solidFill>
                      <a:srgbClr val="F4F9ED"/>
                    </a:solidFill>
                  </a:tcPr>
                </a:tc>
                <a:tc gridSpan="2">
                  <a:txBody>
                    <a:bodyPr/>
                    <a:lstStyle/>
                    <a:p>
                      <a:pPr indent="0" lvl="0" marL="0" marR="0" rtl="0" algn="ctr">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03</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02</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ctr">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07</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02</a:t>
                      </a:r>
                      <a:r>
                        <a:rPr b="0" i="0" lang="en-IN" sz="1300" u="none" cap="none" strike="noStrike">
                          <a:solidFill>
                            <a:srgbClr val="000000"/>
                          </a:solidFill>
                          <a:latin typeface="Helvetica Neue"/>
                          <a:ea typeface="Helvetica Neue"/>
                          <a:cs typeface="Helvetica Neue"/>
                          <a:sym typeface="Helvetica Neue"/>
                        </a:rPr>
                        <a:t>/2025</a:t>
                      </a:r>
                      <a:endParaRPr/>
                    </a:p>
                  </a:txBody>
                  <a:tcPr marT="45725" marB="45725" marR="91450" marL="91450" anchor="ctr">
                    <a:solidFill>
                      <a:srgbClr val="F4F9ED"/>
                    </a:solidFill>
                  </a:tcPr>
                </a:tc>
                <a:tc hMerge="1"/>
                <a:tc gridSpan="5">
                  <a:txBody>
                    <a:bodyPr/>
                    <a:lstStyle/>
                    <a:p>
                      <a:pPr indent="-285750" lvl="0" marL="285750" marR="0" rtl="0" algn="just">
                        <a:spcBef>
                          <a:spcPts val="0"/>
                        </a:spcBef>
                        <a:spcAft>
                          <a:spcPts val="0"/>
                        </a:spcAft>
                        <a:buClr>
                          <a:schemeClr val="dk1"/>
                        </a:buClr>
                        <a:buSzPts val="1300"/>
                        <a:buFont typeface="Arial"/>
                        <a:buChar char="•"/>
                      </a:pPr>
                      <a:r>
                        <a:rPr lang="en-IN" sz="1100">
                          <a:latin typeface="Arial"/>
                          <a:ea typeface="Arial"/>
                          <a:cs typeface="Arial"/>
                          <a:sym typeface="Arial"/>
                        </a:rPr>
                        <a:t>Exploring TCL – Started learning TCL (Tool Command Language) from scratch, using its documentation to understand syntax and integration with HTML.</a:t>
                      </a:r>
                      <a:endParaRPr sz="1100">
                        <a:latin typeface="Arial"/>
                        <a:ea typeface="Arial"/>
                        <a:cs typeface="Arial"/>
                        <a:sym typeface="Arial"/>
                      </a:endParaRPr>
                    </a:p>
                    <a:p>
                      <a:pPr indent="-285750" lvl="0" marL="285750" marR="0" rtl="0" algn="just">
                        <a:spcBef>
                          <a:spcPts val="0"/>
                        </a:spcBef>
                        <a:spcAft>
                          <a:spcPts val="0"/>
                        </a:spcAft>
                        <a:buClr>
                          <a:schemeClr val="dk1"/>
                        </a:buClr>
                        <a:buSzPts val="1300"/>
                        <a:buFont typeface="Arial"/>
                        <a:buChar char="•"/>
                      </a:pPr>
                      <a:r>
                        <a:rPr lang="en-IN" sz="1100">
                          <a:latin typeface="Arial"/>
                          <a:ea typeface="Arial"/>
                          <a:cs typeface="Arial"/>
                          <a:sym typeface="Arial"/>
                        </a:rPr>
                        <a:t>TCL Mini-Projects – Built small projects to get hands-on experience with TCL and understand its role in ERP system development.</a:t>
                      </a:r>
                      <a:endParaRPr sz="1300">
                        <a:latin typeface="Helvetica Neue"/>
                        <a:ea typeface="Helvetica Neue"/>
                        <a:cs typeface="Helvetica Neue"/>
                        <a:sym typeface="Helvetica Neue"/>
                      </a:endParaRPr>
                    </a:p>
                  </a:txBody>
                  <a:tcPr marT="45725" marB="45725" marR="91450" marL="91450" anchor="ctr">
                    <a:solidFill>
                      <a:srgbClr val="F4F9ED"/>
                    </a:solidFill>
                  </a:tcPr>
                </a:tc>
                <a:tc hMerge="1"/>
                <a:tc hMerge="1"/>
                <a:tc hMerge="1"/>
                <a:tc hMerge="1"/>
              </a:tr>
              <a:tr h="882750">
                <a:tc>
                  <a:txBody>
                    <a:bodyPr/>
                    <a:lstStyle/>
                    <a:p>
                      <a:pPr indent="0" lvl="0" marL="0" marR="0" rtl="0" algn="ctr">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Week 4</a:t>
                      </a:r>
                      <a:endParaRPr/>
                    </a:p>
                  </a:txBody>
                  <a:tcPr marT="45725" marB="45725" marR="91450" marL="91450" anchor="ctr">
                    <a:solidFill>
                      <a:srgbClr val="F0F0DD"/>
                    </a:solidFill>
                  </a:tcPr>
                </a:tc>
                <a:tc gridSpan="2">
                  <a:txBody>
                    <a:bodyPr/>
                    <a:lstStyle/>
                    <a:p>
                      <a:pPr indent="0" lvl="0" marL="0" marR="0" rtl="0" algn="ctr">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10</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02</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ctr">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14</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02</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ctr">
                        <a:lnSpc>
                          <a:spcPct val="100000"/>
                        </a:lnSpc>
                        <a:spcBef>
                          <a:spcPts val="0"/>
                        </a:spcBef>
                        <a:spcAft>
                          <a:spcPts val="0"/>
                        </a:spcAft>
                        <a:buClr>
                          <a:schemeClr val="dk1"/>
                        </a:buClr>
                        <a:buSzPts val="1300"/>
                        <a:buFont typeface="Helvetica Neue"/>
                        <a:buNone/>
                      </a:pPr>
                      <a:r>
                        <a:t/>
                      </a:r>
                      <a:endParaRPr b="0" i="0" sz="1300" u="none" cap="none" strike="noStrike">
                        <a:solidFill>
                          <a:srgbClr val="000000"/>
                        </a:solidFill>
                        <a:latin typeface="Helvetica Neue"/>
                        <a:ea typeface="Helvetica Neue"/>
                        <a:cs typeface="Helvetica Neue"/>
                        <a:sym typeface="Helvetica Neue"/>
                      </a:endParaRPr>
                    </a:p>
                  </a:txBody>
                  <a:tcPr marT="45725" marB="45725" marR="91450" marL="91450" anchor="ctr">
                    <a:solidFill>
                      <a:srgbClr val="F0F0DD"/>
                    </a:solidFill>
                  </a:tcPr>
                </a:tc>
                <a:tc hMerge="1"/>
                <a:tc gridSpan="5">
                  <a:txBody>
                    <a:bodyPr/>
                    <a:lstStyle/>
                    <a:p>
                      <a:pPr indent="-285750" lvl="0" marL="285750" marR="0" rtl="0" algn="just">
                        <a:lnSpc>
                          <a:spcPct val="100000"/>
                        </a:lnSpc>
                        <a:spcBef>
                          <a:spcPts val="0"/>
                        </a:spcBef>
                        <a:spcAft>
                          <a:spcPts val="0"/>
                        </a:spcAft>
                        <a:buClr>
                          <a:schemeClr val="dk1"/>
                        </a:buClr>
                        <a:buSzPts val="1300"/>
                        <a:buFont typeface="Arial"/>
                        <a:buChar char="•"/>
                      </a:pPr>
                      <a:r>
                        <a:rPr lang="en-IN" sz="1100">
                          <a:latin typeface="Arial"/>
                          <a:ea typeface="Arial"/>
                          <a:cs typeface="Arial"/>
                          <a:sym typeface="Arial"/>
                        </a:rPr>
                        <a:t>Jinja Templating in Django – Explored Jinja templates to enhance the frontend experience in Django applications.</a:t>
                      </a:r>
                      <a:endParaRPr sz="1100">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300"/>
                        <a:buFont typeface="Arial"/>
                        <a:buChar char="•"/>
                      </a:pPr>
                      <a:r>
                        <a:rPr lang="en-IN" sz="1100">
                          <a:latin typeface="Arial"/>
                          <a:ea typeface="Arial"/>
                          <a:cs typeface="Arial"/>
                          <a:sym typeface="Arial"/>
                        </a:rPr>
                        <a:t>Tailwind &amp; Django Integration – Successfully integrated Tailwind CSS into Django templates, improving styling and responsiveness.</a:t>
                      </a:r>
                      <a:endParaRPr sz="1100">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300"/>
                        <a:buFont typeface="Arial"/>
                        <a:buChar char="•"/>
                      </a:pPr>
                      <a:r>
                        <a:rPr lang="en-IN" sz="1100">
                          <a:latin typeface="Arial"/>
                          <a:ea typeface="Arial"/>
                          <a:cs typeface="Arial"/>
                          <a:sym typeface="Arial"/>
                        </a:rPr>
                        <a:t>Authentication &amp; Forms – Worked on user authentication, implementing login, registration, and form validation.</a:t>
                      </a:r>
                      <a:endParaRPr/>
                    </a:p>
                    <a:p>
                      <a:pPr indent="-203200" lvl="0" marL="285750" marR="0" rtl="0" algn="just">
                        <a:spcBef>
                          <a:spcPts val="0"/>
                        </a:spcBef>
                        <a:spcAft>
                          <a:spcPts val="0"/>
                        </a:spcAft>
                        <a:buClr>
                          <a:schemeClr val="dk1"/>
                        </a:buClr>
                        <a:buSzPts val="1300"/>
                        <a:buFont typeface="Arial"/>
                        <a:buNone/>
                      </a:pPr>
                      <a:r>
                        <a:t/>
                      </a:r>
                      <a:endParaRPr b="0" i="0" sz="1300">
                        <a:latin typeface="Helvetica Neue"/>
                        <a:ea typeface="Helvetica Neue"/>
                        <a:cs typeface="Helvetica Neue"/>
                        <a:sym typeface="Helvetica Neue"/>
                      </a:endParaRPr>
                    </a:p>
                  </a:txBody>
                  <a:tcPr marT="45725" marB="45725" marR="91450" marL="91450" anchor="ctr">
                    <a:solidFill>
                      <a:srgbClr val="F0F0DD"/>
                    </a:solidFill>
                  </a:tcPr>
                </a:tc>
                <a:tc hMerge="1"/>
                <a:tc hMerge="1"/>
                <a:tc hMerge="1"/>
                <a:tc hMerge="1"/>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9"/>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200"/>
              <a:t>Work Contribution and Other Details </a:t>
            </a:r>
            <a:r>
              <a:rPr b="0" lang="en-IN" sz="2200"/>
              <a:t>(cont…)</a:t>
            </a:r>
            <a:endParaRPr b="0" sz="1600"/>
          </a:p>
        </p:txBody>
      </p:sp>
      <p:sp>
        <p:nvSpPr>
          <p:cNvPr id="158" name="Google Shape;158;p19"/>
          <p:cNvSpPr txBox="1"/>
          <p:nvPr/>
        </p:nvSpPr>
        <p:spPr>
          <a:xfrm>
            <a:off x="77118" y="804231"/>
            <a:ext cx="8956714" cy="5172419"/>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59" name="Google Shape;159;p19"/>
          <p:cNvGraphicFramePr/>
          <p:nvPr/>
        </p:nvGraphicFramePr>
        <p:xfrm>
          <a:off x="40642" y="1009713"/>
          <a:ext cx="3000000" cy="3000000"/>
        </p:xfrm>
        <a:graphic>
          <a:graphicData uri="http://schemas.openxmlformats.org/drawingml/2006/table">
            <a:tbl>
              <a:tblPr bandRow="1" firstRow="1">
                <a:noFill/>
                <a:tableStyleId>{6A48C8EA-4310-4F69-B452-EDC874184903}</a:tableStyleId>
              </a:tblPr>
              <a:tblGrid>
                <a:gridCol w="876425"/>
                <a:gridCol w="1315450"/>
                <a:gridCol w="6764850"/>
              </a:tblGrid>
              <a:tr h="353775">
                <a:tc gridSpan="3">
                  <a:txBody>
                    <a:bodyPr/>
                    <a:lstStyle/>
                    <a:p>
                      <a:pPr indent="0" lvl="0" marL="0" marR="0" rtl="0" algn="ctr">
                        <a:lnSpc>
                          <a:spcPct val="150000"/>
                        </a:lnSpc>
                        <a:spcBef>
                          <a:spcPts val="0"/>
                        </a:spcBef>
                        <a:spcAft>
                          <a:spcPts val="0"/>
                        </a:spcAft>
                        <a:buNone/>
                      </a:pPr>
                      <a:r>
                        <a:rPr b="0" i="0" lang="en-IN" sz="1300">
                          <a:solidFill>
                            <a:schemeClr val="dk1"/>
                          </a:solidFill>
                          <a:latin typeface="Helvetica Neue"/>
                          <a:ea typeface="Helvetica Neue"/>
                          <a:cs typeface="Helvetica Neue"/>
                          <a:sym typeface="Helvetica Neue"/>
                        </a:rPr>
                        <a:t>Work Contribution</a:t>
                      </a:r>
                      <a:endParaRPr/>
                    </a:p>
                  </a:txBody>
                  <a:tcPr marT="45725" marB="45725" marR="91450" marL="91450">
                    <a:solidFill>
                      <a:srgbClr val="D5D59B"/>
                    </a:solidFill>
                  </a:tcPr>
                </a:tc>
                <a:tc hMerge="1"/>
                <a:tc hMerge="1"/>
              </a:tr>
              <a:tr h="828000">
                <a:tc>
                  <a:txBody>
                    <a:bodyPr/>
                    <a:lstStyle/>
                    <a:p>
                      <a:pPr indent="0" lvl="0" marL="0" marR="0" rtl="0" algn="l">
                        <a:spcBef>
                          <a:spcPts val="0"/>
                        </a:spcBef>
                        <a:spcAft>
                          <a:spcPts val="0"/>
                        </a:spcAft>
                        <a:buNone/>
                      </a:pPr>
                      <a:r>
                        <a:rPr b="0" i="0" lang="en-IN" sz="1300">
                          <a:latin typeface="Helvetica Neue"/>
                          <a:ea typeface="Helvetica Neue"/>
                          <a:cs typeface="Helvetica Neue"/>
                          <a:sym typeface="Helvetica Neue"/>
                        </a:rPr>
                        <a:t>Week 5</a:t>
                      </a:r>
                      <a:endParaRPr/>
                    </a:p>
                  </a:txBody>
                  <a:tcPr marT="45725" marB="45725" marR="91450" marL="91450" anchor="ctr">
                    <a:solidFill>
                      <a:srgbClr val="F4F9ED"/>
                    </a:solidFill>
                  </a:tcPr>
                </a:tc>
                <a:tc>
                  <a:txBody>
                    <a:bodyPr/>
                    <a:lstStyle/>
                    <a:p>
                      <a:pPr indent="0" lvl="0" marL="0" marR="0" rtl="0" algn="l">
                        <a:spcBef>
                          <a:spcPts val="0"/>
                        </a:spcBef>
                        <a:spcAft>
                          <a:spcPts val="0"/>
                        </a:spcAft>
                        <a:buNone/>
                      </a:pPr>
                      <a:r>
                        <a:rPr lang="en-IN" sz="1300">
                          <a:latin typeface="Helvetica Neue"/>
                          <a:ea typeface="Helvetica Neue"/>
                          <a:cs typeface="Helvetica Neue"/>
                          <a:sym typeface="Helvetica Neue"/>
                        </a:rPr>
                        <a:t>17/02</a:t>
                      </a:r>
                      <a:r>
                        <a:rPr b="0" i="0" lang="en-IN" sz="1300">
                          <a:latin typeface="Helvetica Neue"/>
                          <a:ea typeface="Helvetica Neue"/>
                          <a:cs typeface="Helvetica Neue"/>
                          <a:sym typeface="Helvetica Neue"/>
                        </a:rPr>
                        <a:t>/2025</a:t>
                      </a:r>
                      <a:endParaRPr/>
                    </a:p>
                    <a:p>
                      <a:pPr indent="0" lvl="0" marL="0" marR="0" rtl="0" algn="l">
                        <a:spcBef>
                          <a:spcPts val="0"/>
                        </a:spcBef>
                        <a:spcAft>
                          <a:spcPts val="0"/>
                        </a:spcAft>
                        <a:buNone/>
                      </a:pPr>
                      <a:r>
                        <a:rPr b="0" i="0" lang="en-IN" sz="1300">
                          <a:latin typeface="Helvetica Neue"/>
                          <a:ea typeface="Helvetica Neue"/>
                          <a:cs typeface="Helvetica Neue"/>
                          <a:sym typeface="Helvetica Neue"/>
                        </a:rPr>
                        <a:t>to</a:t>
                      </a:r>
                      <a:endParaRPr/>
                    </a:p>
                    <a:p>
                      <a:pPr indent="0" lvl="0" marL="0" marR="0" rtl="0" algn="l">
                        <a:spcBef>
                          <a:spcPts val="0"/>
                        </a:spcBef>
                        <a:spcAft>
                          <a:spcPts val="0"/>
                        </a:spcAft>
                        <a:buNone/>
                      </a:pPr>
                      <a:r>
                        <a:rPr lang="en-IN" sz="1300">
                          <a:latin typeface="Helvetica Neue"/>
                          <a:ea typeface="Helvetica Neue"/>
                          <a:cs typeface="Helvetica Neue"/>
                          <a:sym typeface="Helvetica Neue"/>
                        </a:rPr>
                        <a:t>21</a:t>
                      </a:r>
                      <a:r>
                        <a:rPr b="0" i="0" lang="en-IN" sz="1300">
                          <a:latin typeface="Helvetica Neue"/>
                          <a:ea typeface="Helvetica Neue"/>
                          <a:cs typeface="Helvetica Neue"/>
                          <a:sym typeface="Helvetica Neue"/>
                        </a:rPr>
                        <a:t>/</a:t>
                      </a:r>
                      <a:r>
                        <a:rPr lang="en-IN" sz="1300">
                          <a:latin typeface="Helvetica Neue"/>
                          <a:ea typeface="Helvetica Neue"/>
                          <a:cs typeface="Helvetica Neue"/>
                          <a:sym typeface="Helvetica Neue"/>
                        </a:rPr>
                        <a:t>02</a:t>
                      </a:r>
                      <a:r>
                        <a:rPr b="0" i="0" lang="en-IN" sz="1300">
                          <a:latin typeface="Helvetica Neue"/>
                          <a:ea typeface="Helvetica Neue"/>
                          <a:cs typeface="Helvetica Neue"/>
                          <a:sym typeface="Helvetica Neue"/>
                        </a:rPr>
                        <a:t>/2025</a:t>
                      </a:r>
                      <a:endParaRPr/>
                    </a:p>
                  </a:txBody>
                  <a:tcPr marT="45725" marB="45725" marR="91450" marL="91450" anchor="ctr">
                    <a:solidFill>
                      <a:srgbClr val="F4F9ED"/>
                    </a:solidFill>
                  </a:tcPr>
                </a:tc>
                <a:tc>
                  <a:txBody>
                    <a:bodyPr/>
                    <a:lstStyle/>
                    <a:p>
                      <a:pPr indent="-285750" lvl="0" marL="285750" marR="0" rtl="0" algn="l">
                        <a:spcBef>
                          <a:spcPts val="0"/>
                        </a:spcBef>
                        <a:spcAft>
                          <a:spcPts val="0"/>
                        </a:spcAft>
                        <a:buClr>
                          <a:schemeClr val="dk1"/>
                        </a:buClr>
                        <a:buSzPts val="1300"/>
                        <a:buFont typeface="Arial"/>
                        <a:buChar char="•"/>
                      </a:pPr>
                      <a:r>
                        <a:rPr lang="en-IN" sz="1100">
                          <a:latin typeface="Arial"/>
                          <a:ea typeface="Arial"/>
                          <a:cs typeface="Arial"/>
                          <a:sym typeface="Arial"/>
                        </a:rPr>
                        <a:t>Understanding ERP Systems – Started working on the in-house ERP system (XLPlat), learning about user roles, access levels, and data abstraction.</a:t>
                      </a:r>
                      <a:endParaRPr sz="1100">
                        <a:latin typeface="Arial"/>
                        <a:ea typeface="Arial"/>
                        <a:cs typeface="Arial"/>
                        <a:sym typeface="Arial"/>
                      </a:endParaRPr>
                    </a:p>
                    <a:p>
                      <a:pPr indent="-285750" lvl="0" marL="285750" marR="0" rtl="0" algn="l">
                        <a:spcBef>
                          <a:spcPts val="0"/>
                        </a:spcBef>
                        <a:spcAft>
                          <a:spcPts val="0"/>
                        </a:spcAft>
                        <a:buClr>
                          <a:schemeClr val="dk1"/>
                        </a:buClr>
                        <a:buSzPts val="1300"/>
                        <a:buFont typeface="Arial"/>
                        <a:buChar char="•"/>
                      </a:pPr>
                      <a:r>
                        <a:rPr lang="en-IN" sz="1100">
                          <a:latin typeface="Arial"/>
                          <a:ea typeface="Arial"/>
                          <a:cs typeface="Arial"/>
                          <a:sym typeface="Arial"/>
                        </a:rPr>
                        <a:t>PostgreSQL Integration – Connected PostgreSQL with Django and TCL-based applications, learning complex queries and database relationships.</a:t>
                      </a:r>
                      <a:endParaRPr sz="1300">
                        <a:latin typeface="Helvetica Neue"/>
                        <a:ea typeface="Helvetica Neue"/>
                        <a:cs typeface="Helvetica Neue"/>
                        <a:sym typeface="Helvetica Neue"/>
                      </a:endParaRPr>
                    </a:p>
                  </a:txBody>
                  <a:tcPr marT="45725" marB="45725" marR="91450" marL="91450" anchor="ctr">
                    <a:solidFill>
                      <a:srgbClr val="F4F9ED"/>
                    </a:solidFill>
                  </a:tcPr>
                </a:tc>
              </a:tr>
              <a:tr h="828000">
                <a:tc>
                  <a:txBody>
                    <a:bodyPr/>
                    <a:lstStyle/>
                    <a:p>
                      <a:pPr indent="0" lvl="0" marL="0" marR="0" rtl="0" algn="l">
                        <a:spcBef>
                          <a:spcPts val="0"/>
                        </a:spcBef>
                        <a:spcAft>
                          <a:spcPts val="0"/>
                        </a:spcAft>
                        <a:buNone/>
                      </a:pPr>
                      <a:r>
                        <a:rPr b="0" i="0" lang="en-IN" sz="1300">
                          <a:latin typeface="Helvetica Neue"/>
                          <a:ea typeface="Helvetica Neue"/>
                          <a:cs typeface="Helvetica Neue"/>
                          <a:sym typeface="Helvetica Neue"/>
                        </a:rPr>
                        <a:t>Week 6</a:t>
                      </a:r>
                      <a:endParaRPr/>
                    </a:p>
                  </a:txBody>
                  <a:tcPr marT="45725" marB="45725" marR="91450" marL="91450" anchor="ctr">
                    <a:solidFill>
                      <a:srgbClr val="F0F0DD"/>
                    </a:solidFill>
                  </a:tcPr>
                </a:tc>
                <a:tc>
                  <a:txBody>
                    <a:bodyPr/>
                    <a:lstStyle/>
                    <a:p>
                      <a:pPr indent="0" lvl="0" marL="0" marR="0" rtl="0" algn="l">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24</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02</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l">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to</a:t>
                      </a:r>
                      <a:endParaRPr/>
                    </a:p>
                    <a:p>
                      <a:pPr indent="0" lvl="0" marL="0" marR="0" rtl="0" algn="l">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28</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02</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l">
                        <a:spcBef>
                          <a:spcPts val="0"/>
                        </a:spcBef>
                        <a:spcAft>
                          <a:spcPts val="0"/>
                        </a:spcAft>
                        <a:buNone/>
                      </a:pPr>
                      <a:r>
                        <a:t/>
                      </a:r>
                      <a:endParaRPr b="0" i="0" sz="1300">
                        <a:latin typeface="Helvetica Neue"/>
                        <a:ea typeface="Helvetica Neue"/>
                        <a:cs typeface="Helvetica Neue"/>
                        <a:sym typeface="Helvetica Neue"/>
                      </a:endParaRPr>
                    </a:p>
                  </a:txBody>
                  <a:tcPr marT="45725" marB="45725" marR="91450" marL="91450" anchor="ctr">
                    <a:solidFill>
                      <a:srgbClr val="F0F0DD"/>
                    </a:solidFill>
                  </a:tcPr>
                </a:tc>
                <a:tc>
                  <a:txBody>
                    <a:bodyPr/>
                    <a:lstStyle/>
                    <a:p>
                      <a:pPr indent="-285750" lvl="0" marL="285750" marR="0" rtl="0" algn="l">
                        <a:spcBef>
                          <a:spcPts val="0"/>
                        </a:spcBef>
                        <a:spcAft>
                          <a:spcPts val="0"/>
                        </a:spcAft>
                        <a:buClr>
                          <a:schemeClr val="dk1"/>
                        </a:buClr>
                        <a:buSzPts val="1300"/>
                        <a:buFont typeface="Arial"/>
                        <a:buChar char="•"/>
                      </a:pPr>
                      <a:r>
                        <a:rPr lang="en-IN" sz="1100">
                          <a:latin typeface="Arial"/>
                          <a:ea typeface="Arial"/>
                          <a:cs typeface="Arial"/>
                          <a:sym typeface="Arial"/>
                        </a:rPr>
                        <a:t>PostgreSQL &amp; TCL Integration – Implemented PostgreSQL queries within TCL-based ERP applications, optimizing data retrieval and performance.</a:t>
                      </a:r>
                      <a:endParaRPr sz="1100">
                        <a:latin typeface="Arial"/>
                        <a:ea typeface="Arial"/>
                        <a:cs typeface="Arial"/>
                        <a:sym typeface="Arial"/>
                      </a:endParaRPr>
                    </a:p>
                    <a:p>
                      <a:pPr indent="-285750" lvl="0" marL="285750" marR="0" rtl="0" algn="l">
                        <a:spcBef>
                          <a:spcPts val="0"/>
                        </a:spcBef>
                        <a:spcAft>
                          <a:spcPts val="0"/>
                        </a:spcAft>
                        <a:buClr>
                          <a:schemeClr val="dk1"/>
                        </a:buClr>
                        <a:buSzPts val="1300"/>
                        <a:buFont typeface="Arial"/>
                        <a:buChar char="•"/>
                      </a:pPr>
                      <a:r>
                        <a:rPr lang="en-IN" sz="1100">
                          <a:latin typeface="Arial"/>
                          <a:ea typeface="Arial"/>
                          <a:cs typeface="Arial"/>
                          <a:sym typeface="Arial"/>
                        </a:rPr>
                        <a:t>Enhancing ERP Functionalities – Added new features to ERP, improving user interaction, data tracking, and workflow automation.</a:t>
                      </a:r>
                      <a:endParaRPr sz="1300">
                        <a:latin typeface="Helvetica Neue"/>
                        <a:ea typeface="Helvetica Neue"/>
                        <a:cs typeface="Helvetica Neue"/>
                        <a:sym typeface="Helvetica Neue"/>
                      </a:endParaRPr>
                    </a:p>
                  </a:txBody>
                  <a:tcPr marT="45725" marB="45725" marR="91450" marL="91450" anchor="ctr">
                    <a:solidFill>
                      <a:srgbClr val="F0F0DD"/>
                    </a:solidFill>
                  </a:tcPr>
                </a:tc>
              </a:tr>
              <a:tr h="828000">
                <a:tc>
                  <a:txBody>
                    <a:bodyPr/>
                    <a:lstStyle/>
                    <a:p>
                      <a:pPr indent="0" lvl="0" marL="0" marR="0" rtl="0" algn="l">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Week 7</a:t>
                      </a:r>
                      <a:endParaRPr/>
                    </a:p>
                  </a:txBody>
                  <a:tcPr marT="45725" marB="45725" marR="91450" marL="91450" anchor="ctr">
                    <a:solidFill>
                      <a:srgbClr val="F4F9ED"/>
                    </a:solidFill>
                  </a:tcPr>
                </a:tc>
                <a:tc>
                  <a:txBody>
                    <a:bodyPr/>
                    <a:lstStyle/>
                    <a:p>
                      <a:pPr indent="0" lvl="0" marL="0" marR="0" rtl="0" algn="l">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03</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03</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l">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to</a:t>
                      </a:r>
                      <a:endParaRPr/>
                    </a:p>
                    <a:p>
                      <a:pPr indent="0" lvl="0" marL="0" marR="0" rtl="0" algn="l">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07</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03</a:t>
                      </a:r>
                      <a:r>
                        <a:rPr b="0" i="0" lang="en-IN" sz="1300" u="none" cap="none" strike="noStrike">
                          <a:solidFill>
                            <a:srgbClr val="000000"/>
                          </a:solidFill>
                          <a:latin typeface="Helvetica Neue"/>
                          <a:ea typeface="Helvetica Neue"/>
                          <a:cs typeface="Helvetica Neue"/>
                          <a:sym typeface="Helvetica Neue"/>
                        </a:rPr>
                        <a:t>/2025</a:t>
                      </a:r>
                      <a:endParaRPr/>
                    </a:p>
                  </a:txBody>
                  <a:tcPr marT="45725" marB="45725" marR="91450" marL="91450" anchor="ctr">
                    <a:solidFill>
                      <a:srgbClr val="F4F9ED"/>
                    </a:solidFill>
                  </a:tcPr>
                </a:tc>
                <a:tc>
                  <a:txBody>
                    <a:bodyPr/>
                    <a:lstStyle/>
                    <a:p>
                      <a:pPr indent="-285750" lvl="0" marL="285750" marR="0" rtl="0" algn="l">
                        <a:spcBef>
                          <a:spcPts val="0"/>
                        </a:spcBef>
                        <a:spcAft>
                          <a:spcPts val="0"/>
                        </a:spcAft>
                        <a:buClr>
                          <a:schemeClr val="dk1"/>
                        </a:buClr>
                        <a:buSzPts val="1300"/>
                        <a:buFont typeface="Arial"/>
                        <a:buChar char="•"/>
                      </a:pPr>
                      <a:r>
                        <a:rPr lang="en-IN" sz="1100">
                          <a:latin typeface="Arial"/>
                          <a:ea typeface="Arial"/>
                          <a:cs typeface="Arial"/>
                          <a:sym typeface="Arial"/>
                        </a:rPr>
                        <a:t>Email Integration in ERP – Developed a feature that allows users to send emails directly from the ERP system, streamlining communication.</a:t>
                      </a:r>
                      <a:endParaRPr sz="1100">
                        <a:latin typeface="Arial"/>
                        <a:ea typeface="Arial"/>
                        <a:cs typeface="Arial"/>
                        <a:sym typeface="Arial"/>
                      </a:endParaRPr>
                    </a:p>
                    <a:p>
                      <a:pPr indent="-285750" lvl="0" marL="285750" marR="0" rtl="0" algn="l">
                        <a:spcBef>
                          <a:spcPts val="0"/>
                        </a:spcBef>
                        <a:spcAft>
                          <a:spcPts val="0"/>
                        </a:spcAft>
                        <a:buClr>
                          <a:schemeClr val="dk1"/>
                        </a:buClr>
                        <a:buSzPts val="1300"/>
                        <a:buFont typeface="Arial"/>
                        <a:buChar char="•"/>
                      </a:pPr>
                      <a:r>
                        <a:rPr lang="en-IN" sz="1100">
                          <a:latin typeface="Arial"/>
                          <a:ea typeface="Arial"/>
                          <a:cs typeface="Arial"/>
                          <a:sym typeface="Arial"/>
                        </a:rPr>
                        <a:t>Resignation Module Development – Created the resignation workflow, ensuring that approvals from managers and HR are required before final submission.</a:t>
                      </a:r>
                      <a:endParaRPr sz="1300">
                        <a:latin typeface="Helvetica Neue"/>
                        <a:ea typeface="Helvetica Neue"/>
                        <a:cs typeface="Helvetica Neue"/>
                        <a:sym typeface="Helvetica Neue"/>
                      </a:endParaRPr>
                    </a:p>
                  </a:txBody>
                  <a:tcPr marT="45725" marB="45725" marR="91450" marL="91450" anchor="ctr">
                    <a:solidFill>
                      <a:srgbClr val="F4F9ED"/>
                    </a:solidFill>
                  </a:tcPr>
                </a:tc>
              </a:tr>
              <a:tr h="828000">
                <a:tc>
                  <a:txBody>
                    <a:bodyPr/>
                    <a:lstStyle/>
                    <a:p>
                      <a:pPr indent="0" lvl="0" marL="0" marR="0" rtl="0" algn="l">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Week 8</a:t>
                      </a:r>
                      <a:endParaRPr/>
                    </a:p>
                  </a:txBody>
                  <a:tcPr marT="45725" marB="45725" marR="91450" marL="91450" anchor="ctr">
                    <a:solidFill>
                      <a:srgbClr val="F0F0DD"/>
                    </a:solidFill>
                  </a:tcPr>
                </a:tc>
                <a:tc>
                  <a:txBody>
                    <a:bodyPr/>
                    <a:lstStyle/>
                    <a:p>
                      <a:pPr indent="0" lvl="0" marL="0" marR="0" rtl="0" algn="l">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10</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03</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l">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to</a:t>
                      </a:r>
                      <a:endParaRPr/>
                    </a:p>
                    <a:p>
                      <a:pPr indent="0" lvl="0" marL="0" marR="0" rtl="0" algn="l">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13</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03</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l">
                        <a:lnSpc>
                          <a:spcPct val="100000"/>
                        </a:lnSpc>
                        <a:spcBef>
                          <a:spcPts val="0"/>
                        </a:spcBef>
                        <a:spcAft>
                          <a:spcPts val="0"/>
                        </a:spcAft>
                        <a:buClr>
                          <a:schemeClr val="dk1"/>
                        </a:buClr>
                        <a:buSzPts val="1300"/>
                        <a:buFont typeface="Helvetica Neue"/>
                        <a:buNone/>
                      </a:pPr>
                      <a:r>
                        <a:t/>
                      </a:r>
                      <a:endParaRPr b="0" i="0" sz="1300" u="none" cap="none" strike="noStrike">
                        <a:solidFill>
                          <a:srgbClr val="000000"/>
                        </a:solidFill>
                        <a:latin typeface="Helvetica Neue"/>
                        <a:ea typeface="Helvetica Neue"/>
                        <a:cs typeface="Helvetica Neue"/>
                        <a:sym typeface="Helvetica Neue"/>
                      </a:endParaRPr>
                    </a:p>
                  </a:txBody>
                  <a:tcPr marT="45725" marB="45725" marR="91450" marL="91450" anchor="ctr">
                    <a:solidFill>
                      <a:srgbClr val="F0F0DD"/>
                    </a:solidFill>
                  </a:tcPr>
                </a:tc>
                <a:tc>
                  <a:txBody>
                    <a:bodyPr/>
                    <a:lstStyle/>
                    <a:p>
                      <a:pPr indent="-285750" lvl="0" marL="285750" marR="0" rtl="0" algn="l">
                        <a:lnSpc>
                          <a:spcPct val="100000"/>
                        </a:lnSpc>
                        <a:spcBef>
                          <a:spcPts val="0"/>
                        </a:spcBef>
                        <a:spcAft>
                          <a:spcPts val="0"/>
                        </a:spcAft>
                        <a:buClr>
                          <a:schemeClr val="dk1"/>
                        </a:buClr>
                        <a:buSzPts val="1300"/>
                        <a:buFont typeface="Arial"/>
                        <a:buChar char="•"/>
                      </a:pPr>
                      <a:r>
                        <a:rPr lang="en-IN" sz="1100">
                          <a:latin typeface="Arial"/>
                          <a:ea typeface="Arial"/>
                          <a:cs typeface="Arial"/>
                          <a:sym typeface="Arial"/>
                        </a:rPr>
                        <a:t>UI Enhancements in ERP – Improved the user interface of ERP using Tailwind CSS, making it more user-friendly and visually appealing.</a:t>
                      </a:r>
                      <a:endParaRPr sz="1100">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Char char="•"/>
                      </a:pPr>
                      <a:r>
                        <a:rPr lang="en-IN" sz="1100">
                          <a:latin typeface="Arial"/>
                          <a:ea typeface="Arial"/>
                          <a:cs typeface="Arial"/>
                          <a:sym typeface="Arial"/>
                        </a:rPr>
                        <a:t>Optimizing ERP Performance – Analyzed the performance bottlenecks and optimized database queries for faster processing.</a:t>
                      </a:r>
                      <a:endParaRPr sz="1300">
                        <a:latin typeface="Helvetica Neue"/>
                        <a:ea typeface="Helvetica Neue"/>
                        <a:cs typeface="Helvetica Neue"/>
                        <a:sym typeface="Helvetica Neue"/>
                      </a:endParaRPr>
                    </a:p>
                    <a:p>
                      <a:pPr indent="-203200" lvl="0" marL="285750" marR="0" rtl="0" algn="l">
                        <a:spcBef>
                          <a:spcPts val="0"/>
                        </a:spcBef>
                        <a:spcAft>
                          <a:spcPts val="0"/>
                        </a:spcAft>
                        <a:buClr>
                          <a:schemeClr val="dk1"/>
                        </a:buClr>
                        <a:buSzPts val="1300"/>
                        <a:buFont typeface="Arial"/>
                        <a:buNone/>
                      </a:pPr>
                      <a:r>
                        <a:t/>
                      </a:r>
                      <a:endParaRPr b="0" i="0" sz="1300">
                        <a:latin typeface="Helvetica Neue"/>
                        <a:ea typeface="Helvetica Neue"/>
                        <a:cs typeface="Helvetica Neue"/>
                        <a:sym typeface="Helvetica Neue"/>
                      </a:endParaRPr>
                    </a:p>
                  </a:txBody>
                  <a:tcPr marT="45725" marB="45725" marR="91450" marL="91450" anchor="ctr">
                    <a:solidFill>
                      <a:srgbClr val="F0F0DD"/>
                    </a:solidFill>
                  </a:tcPr>
                </a:tc>
              </a:tr>
              <a:tr h="685750">
                <a:tc>
                  <a:txBody>
                    <a:bodyPr/>
                    <a:lstStyle/>
                    <a:p>
                      <a:pPr indent="0" lvl="0" marL="0" marR="0" rtl="0" algn="l">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Week 9</a:t>
                      </a:r>
                      <a:endParaRPr/>
                    </a:p>
                  </a:txBody>
                  <a:tcPr marT="45725" marB="45725" marR="91450" marL="91450" anchor="ctr">
                    <a:solidFill>
                      <a:srgbClr val="F4F9ED"/>
                    </a:solidFill>
                  </a:tcPr>
                </a:tc>
                <a:tc>
                  <a:txBody>
                    <a:bodyPr/>
                    <a:lstStyle/>
                    <a:p>
                      <a:pPr indent="0" lvl="0" marL="0" marR="0" rtl="0" algn="l">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17</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03</a:t>
                      </a:r>
                      <a:r>
                        <a:rPr b="0" i="0" lang="en-IN" sz="1300" u="none" cap="none" strike="noStrike">
                          <a:solidFill>
                            <a:srgbClr val="000000"/>
                          </a:solidFill>
                          <a:latin typeface="Helvetica Neue"/>
                          <a:ea typeface="Helvetica Neue"/>
                          <a:cs typeface="Helvetica Neue"/>
                          <a:sym typeface="Helvetica Neue"/>
                        </a:rPr>
                        <a:t>/2025</a:t>
                      </a:r>
                      <a:endParaRPr/>
                    </a:p>
                    <a:p>
                      <a:pPr indent="0" lvl="0" marL="0" marR="0" rtl="0" algn="l">
                        <a:lnSpc>
                          <a:spcPct val="100000"/>
                        </a:lnSpc>
                        <a:spcBef>
                          <a:spcPts val="0"/>
                        </a:spcBef>
                        <a:spcAft>
                          <a:spcPts val="0"/>
                        </a:spcAft>
                        <a:buClr>
                          <a:srgbClr val="000000"/>
                        </a:buClr>
                        <a:buSzPts val="1300"/>
                        <a:buFont typeface="Helvetica Neue"/>
                        <a:buNone/>
                      </a:pPr>
                      <a:r>
                        <a:rPr b="0" i="0" lang="en-IN" sz="1300" u="none" cap="none" strike="noStrike">
                          <a:solidFill>
                            <a:srgbClr val="000000"/>
                          </a:solidFill>
                          <a:latin typeface="Helvetica Neue"/>
                          <a:ea typeface="Helvetica Neue"/>
                          <a:cs typeface="Helvetica Neue"/>
                          <a:sym typeface="Helvetica Neue"/>
                        </a:rPr>
                        <a:t>to</a:t>
                      </a:r>
                      <a:endParaRPr/>
                    </a:p>
                    <a:p>
                      <a:pPr indent="0" lvl="0" marL="0" marR="0" rtl="0" algn="l">
                        <a:lnSpc>
                          <a:spcPct val="100000"/>
                        </a:lnSpc>
                        <a:spcBef>
                          <a:spcPts val="0"/>
                        </a:spcBef>
                        <a:spcAft>
                          <a:spcPts val="0"/>
                        </a:spcAft>
                        <a:buClr>
                          <a:srgbClr val="000000"/>
                        </a:buClr>
                        <a:buSzPts val="1300"/>
                        <a:buFont typeface="Helvetica Neue"/>
                        <a:buNone/>
                      </a:pPr>
                      <a:r>
                        <a:rPr lang="en-IN" sz="1300">
                          <a:solidFill>
                            <a:srgbClr val="000000"/>
                          </a:solidFill>
                          <a:latin typeface="Helvetica Neue"/>
                          <a:ea typeface="Helvetica Neue"/>
                          <a:cs typeface="Helvetica Neue"/>
                          <a:sym typeface="Helvetica Neue"/>
                        </a:rPr>
                        <a:t>21</a:t>
                      </a:r>
                      <a:r>
                        <a:rPr b="0" i="0" lang="en-IN" sz="1300" u="none" cap="none" strike="noStrike">
                          <a:solidFill>
                            <a:srgbClr val="000000"/>
                          </a:solidFill>
                          <a:latin typeface="Helvetica Neue"/>
                          <a:ea typeface="Helvetica Neue"/>
                          <a:cs typeface="Helvetica Neue"/>
                          <a:sym typeface="Helvetica Neue"/>
                        </a:rPr>
                        <a:t>/</a:t>
                      </a:r>
                      <a:r>
                        <a:rPr lang="en-IN" sz="1300">
                          <a:solidFill>
                            <a:srgbClr val="000000"/>
                          </a:solidFill>
                          <a:latin typeface="Helvetica Neue"/>
                          <a:ea typeface="Helvetica Neue"/>
                          <a:cs typeface="Helvetica Neue"/>
                          <a:sym typeface="Helvetica Neue"/>
                        </a:rPr>
                        <a:t>03</a:t>
                      </a:r>
                      <a:r>
                        <a:rPr b="0" i="0" lang="en-IN" sz="1300" u="none" cap="none" strike="noStrike">
                          <a:solidFill>
                            <a:srgbClr val="000000"/>
                          </a:solidFill>
                          <a:latin typeface="Helvetica Neue"/>
                          <a:ea typeface="Helvetica Neue"/>
                          <a:cs typeface="Helvetica Neue"/>
                          <a:sym typeface="Helvetica Neue"/>
                        </a:rPr>
                        <a:t>/2025</a:t>
                      </a:r>
                      <a:endParaRPr/>
                    </a:p>
                  </a:txBody>
                  <a:tcPr marT="45725" marB="45725" marR="91450" marL="91450" anchor="ctr">
                    <a:solidFill>
                      <a:srgbClr val="F4F9ED"/>
                    </a:solidFill>
                  </a:tcPr>
                </a:tc>
                <a:tc>
                  <a:txBody>
                    <a:bodyPr/>
                    <a:lstStyle/>
                    <a:p>
                      <a:pPr indent="-285750" lvl="0" marL="285750" marR="0" rtl="0" algn="l">
                        <a:lnSpc>
                          <a:spcPct val="100000"/>
                        </a:lnSpc>
                        <a:spcBef>
                          <a:spcPts val="0"/>
                        </a:spcBef>
                        <a:spcAft>
                          <a:spcPts val="0"/>
                        </a:spcAft>
                        <a:buClr>
                          <a:schemeClr val="dk1"/>
                        </a:buClr>
                        <a:buSzPts val="1300"/>
                        <a:buFont typeface="Arial"/>
                        <a:buChar char="•"/>
                      </a:pPr>
                      <a:r>
                        <a:rPr lang="en-IN" sz="1100">
                          <a:latin typeface="Arial"/>
                          <a:ea typeface="Arial"/>
                          <a:cs typeface="Arial"/>
                          <a:sym typeface="Arial"/>
                        </a:rPr>
                        <a:t>Finalizing the TCL Project – Focused on refining a TCL-based ERP module, ensuring seamless PostgreSQL and HTML integration.</a:t>
                      </a:r>
                      <a:endParaRPr sz="1300">
                        <a:latin typeface="Helvetica Neue"/>
                        <a:ea typeface="Helvetica Neue"/>
                        <a:cs typeface="Helvetica Neue"/>
                        <a:sym typeface="Helvetica Neue"/>
                      </a:endParaRPr>
                    </a:p>
                  </a:txBody>
                  <a:tcPr marT="45725" marB="45725" marR="91450" marL="91450" anchor="ctr">
                    <a:solidFill>
                      <a:srgbClr val="F4F9ED"/>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0"/>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References</a:t>
            </a:r>
            <a:endParaRPr/>
          </a:p>
        </p:txBody>
      </p:sp>
      <p:sp>
        <p:nvSpPr>
          <p:cNvPr id="165" name="Google Shape;165;p20"/>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490"/>
              </a:spcBef>
              <a:spcAft>
                <a:spcPts val="0"/>
              </a:spcAft>
              <a:buNone/>
            </a:pPr>
            <a:r>
              <a:rPr lang="en-IN" sz="1800">
                <a:solidFill>
                  <a:schemeClr val="dk1"/>
                </a:solidFill>
                <a:latin typeface="Helvetica Neue"/>
                <a:ea typeface="Helvetica Neue"/>
                <a:cs typeface="Helvetica Neue"/>
                <a:sym typeface="Helvetica Neue"/>
              </a:rPr>
              <a:t>The ERP system development is based on industry best practices, official documentation, and real-world implementation of Django, PostgreSQL, and Tailwind CSS.</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nvSpPr>
        <p:spPr>
          <a:xfrm>
            <a:off x="77118" y="804231"/>
            <a:ext cx="8956714" cy="5960125"/>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ctr">
              <a:lnSpc>
                <a:spcPct val="150000"/>
              </a:lnSpc>
              <a:spcBef>
                <a:spcPts val="700"/>
              </a:spcBef>
              <a:spcAft>
                <a:spcPts val="0"/>
              </a:spcAft>
              <a:buClr>
                <a:schemeClr val="dk1"/>
              </a:buClr>
              <a:buSzPts val="2500"/>
              <a:buFont typeface="Arial"/>
              <a:buNone/>
            </a:pPr>
            <a:r>
              <a:rPr b="1" lang="en-IN" sz="2000">
                <a:solidFill>
                  <a:schemeClr val="dk1"/>
                </a:solidFill>
                <a:latin typeface="Helvetica Neue"/>
                <a:ea typeface="Helvetica Neue"/>
                <a:cs typeface="Helvetica Neue"/>
                <a:sym typeface="Helvetica Neue"/>
              </a:rPr>
              <a:t>Thanks</a:t>
            </a:r>
            <a:r>
              <a:rPr lang="en-IN" sz="1400">
                <a:solidFill>
                  <a:schemeClr val="dk1"/>
                </a:solidFill>
                <a:latin typeface="Helvetica Neue"/>
                <a:ea typeface="Helvetica Neue"/>
                <a:cs typeface="Helvetica Neue"/>
                <a:sym typeface="Helvetica Neue"/>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2008-07-20T15:16:37Z</dcterms:created>
  <dc:creator>Marilyn Turnamian</dc:creator>
</cp:coreProperties>
</file>